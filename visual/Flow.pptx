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118DFF"/>
    <a:srgbClr val="FFFFFF"/>
    <a:srgbClr val="D1D1D1"/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4E8B-3C07-1139-7BBE-E35ABD19F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8813B-ADF9-A4C2-1596-1827AF4AE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1D74A-A66E-58D1-0AD2-EAAED769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FB10-DF7A-4F2D-808F-FE175731BA40}" type="datetimeFigureOut">
              <a:rPr lang="en-US" smtClean="0"/>
              <a:t>12/03/2025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632EA-539E-2065-FE7E-D29C0B79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7169-8BE1-2D63-A003-B3EC145B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81B6-EBF6-4C7C-80AF-DBB1253D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85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7E948-04FA-A885-FD7E-9281E4BB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58E3A-7CDA-CDE6-F6AB-788F999C9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A0835-7A12-E536-90D5-BE2DE3517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FB10-DF7A-4F2D-808F-FE175731BA40}" type="datetimeFigureOut">
              <a:rPr lang="en-US" smtClean="0"/>
              <a:t>12/03/2025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101C6-93C8-4EAF-50F9-169E84584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365B-878C-2FA1-F434-E1065178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81B6-EBF6-4C7C-80AF-DBB1253D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15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2A33C-7829-BA74-E837-F8E2756FA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1CA39-E6B3-7144-EA37-BF68902C8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AB307-4D61-CB10-51D4-D50DE4DE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FB10-DF7A-4F2D-808F-FE175731BA40}" type="datetimeFigureOut">
              <a:rPr lang="en-US" smtClean="0"/>
              <a:t>12/03/2025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C009E-F452-3D07-FD9B-538A1B2D9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3D976-23A5-1BB7-B9BD-8EC9CF76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81B6-EBF6-4C7C-80AF-DBB1253D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6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62E53-6DBB-CEF3-0F75-698BF5EF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3307E-67BD-05F2-1339-3095EE305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E0CDF-FF59-EFAE-7FCE-381AC3ABE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00ABD-B90D-B82C-66AA-39E2AAFE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FB10-DF7A-4F2D-808F-FE175731BA40}" type="datetimeFigureOut">
              <a:rPr lang="en-US" smtClean="0"/>
              <a:t>12/03/2025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55555-2D4F-02B4-1C28-A757BA94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1B7C3-D636-7201-C5D6-E03F71D7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81B6-EBF6-4C7C-80AF-DBB1253D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2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C738-26CA-FA4D-ADE4-AF7CECC0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FB7BB-1DE4-BB71-8595-545C4409A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BE601-A5D6-A8EC-3AA3-C5D883229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A7C6B-9886-5D2E-82FE-485E710FF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A9F79-E34B-9A02-B404-622E9A415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7D9B3-DD79-8911-DA8F-F8B86629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FB10-DF7A-4F2D-808F-FE175731BA40}" type="datetimeFigureOut">
              <a:rPr lang="en-US" smtClean="0"/>
              <a:t>12/03/2025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CC61D3-CC6A-6E28-1419-DC9345C69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E1D4DB-1476-4F15-AA78-AAFCA1998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81B6-EBF6-4C7C-80AF-DBB1253D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4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F06EE-A8B9-CFB7-52F1-3E5300FA5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9DBA7-1B87-BB6E-774B-DD08772AB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FB10-DF7A-4F2D-808F-FE175731BA40}" type="datetimeFigureOut">
              <a:rPr lang="en-US" smtClean="0"/>
              <a:t>12/03/2025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A07AB-12B2-2104-7356-DAF400D9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E6993-F711-65E0-F00E-5B141052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81B6-EBF6-4C7C-80AF-DBB1253D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26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6AA40-7CC1-23EA-9D19-88A561145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FB10-DF7A-4F2D-808F-FE175731BA40}" type="datetimeFigureOut">
              <a:rPr lang="en-US" smtClean="0"/>
              <a:t>12/03/2025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4B48C4-3DFC-61A0-1D50-8E65C08B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9FEE8-E61A-BAC1-584A-44B10FC5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81B6-EBF6-4C7C-80AF-DBB1253D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53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0093-599F-332B-4791-D49591AF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389AE-6697-A6E8-0995-884285B90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2F450-3F6C-80F3-65AD-230D6BBC0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F875B-93DB-1CCC-8F17-FC67D4DBA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FB10-DF7A-4F2D-808F-FE175731BA40}" type="datetimeFigureOut">
              <a:rPr lang="en-US" smtClean="0"/>
              <a:t>12/03/2025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4E20A-C796-8602-8423-E33427F3C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B0665-AB91-02A5-33FB-038143F54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81B6-EBF6-4C7C-80AF-DBB1253D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19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C0618-9B26-F38E-D2AD-332A4B0D6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136A2B-6039-55DE-DBA0-C927C4852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5EFE3-FB25-0865-E0C0-4F339EAAE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05702-8E52-4797-E38D-404E54A3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FB10-DF7A-4F2D-808F-FE175731BA40}" type="datetimeFigureOut">
              <a:rPr lang="en-US" smtClean="0"/>
              <a:t>12/03/2025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DECF9-19F4-85F7-2E04-8FC5AA695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3BE98-5BB7-E565-700E-AED53CA9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81B6-EBF6-4C7C-80AF-DBB1253D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3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1FDD-1800-5053-2DB7-A741B5DC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8D91C-130B-3C58-CC95-49D184ECD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ABF95-B89E-1B8C-8186-94806CDD0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FB10-DF7A-4F2D-808F-FE175731BA40}" type="datetimeFigureOut">
              <a:rPr lang="en-US" smtClean="0"/>
              <a:t>12/03/2025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B8B3D-C56F-4A6E-E64F-DEE4E171E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E09BB-4F2B-07BC-CB26-B3A840E9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81B6-EBF6-4C7C-80AF-DBB1253D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3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D5FBE9-5E6B-BABC-DF39-A1E99F8F4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D0B35-BC1B-6267-BA27-AE09CA623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8971E-DFE1-4188-422C-BA501809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FB10-DF7A-4F2D-808F-FE175731BA40}" type="datetimeFigureOut">
              <a:rPr lang="en-US" smtClean="0"/>
              <a:t>12/03/2025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C2E63-9750-9791-6AFE-1DE68D13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7AEEA-59DE-C669-947F-79CB147B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81B6-EBF6-4C7C-80AF-DBB1253D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52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2508B9-D9F9-6468-5901-9B07A58E9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ECB6B-73A1-B3A4-F41B-7123F0AB1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A362B-ABA1-CF16-3E72-A2659B9C2C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EFB10-DF7A-4F2D-808F-FE175731BA40}" type="datetimeFigureOut">
              <a:rPr lang="en-US" smtClean="0"/>
              <a:t>12/03/2025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2EC44-7138-0389-A9E4-BEF5729B1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16EB3-6BB9-B890-BCDD-366DECD1CB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981B6-EBF6-4C7C-80AF-DBB1253D6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19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14866-3C8C-3758-8E0F-9DB97763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raphic 159" descr="Bar chart outline">
            <a:extLst>
              <a:ext uri="{FF2B5EF4-FFF2-40B4-BE49-F238E27FC236}">
                <a16:creationId xmlns:a16="http://schemas.microsoft.com/office/drawing/2014/main" id="{2692A1AA-992A-0CCC-68F2-AB3355D36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7776" y="2576486"/>
            <a:ext cx="914400" cy="914400"/>
          </a:xfrm>
          <a:prstGeom prst="rect">
            <a:avLst/>
          </a:prstGeom>
        </p:spPr>
      </p:pic>
      <p:sp>
        <p:nvSpPr>
          <p:cNvPr id="161" name="Rectangle 160">
            <a:extLst>
              <a:ext uri="{FF2B5EF4-FFF2-40B4-BE49-F238E27FC236}">
                <a16:creationId xmlns:a16="http://schemas.microsoft.com/office/drawing/2014/main" id="{478440DB-920B-EB7F-7033-90F44F9C51D7}"/>
              </a:ext>
            </a:extLst>
          </p:cNvPr>
          <p:cNvSpPr/>
          <p:nvPr/>
        </p:nvSpPr>
        <p:spPr>
          <a:xfrm>
            <a:off x="7281300" y="2690056"/>
            <a:ext cx="705503" cy="62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C81ABB-E266-CDE0-6D64-90D27CB8C586}"/>
              </a:ext>
            </a:extLst>
          </p:cNvPr>
          <p:cNvSpPr/>
          <p:nvPr/>
        </p:nvSpPr>
        <p:spPr>
          <a:xfrm>
            <a:off x="1786605" y="3738876"/>
            <a:ext cx="1919881" cy="12977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Visual Encoding</a:t>
            </a:r>
            <a:r>
              <a:rPr lang="en-US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5DDEB4-C3D9-259E-BEC3-98AAA3D605F2}"/>
              </a:ext>
            </a:extLst>
          </p:cNvPr>
          <p:cNvSpPr/>
          <p:nvPr/>
        </p:nvSpPr>
        <p:spPr>
          <a:xfrm>
            <a:off x="3846223" y="3738876"/>
            <a:ext cx="4452419" cy="12977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05A3D9F-F690-0D98-A95D-0D51041B43B1}"/>
              </a:ext>
            </a:extLst>
          </p:cNvPr>
          <p:cNvSpPr/>
          <p:nvPr/>
        </p:nvSpPr>
        <p:spPr>
          <a:xfrm>
            <a:off x="1786605" y="2272818"/>
            <a:ext cx="1919881" cy="12977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Cognitive Alignment</a:t>
            </a:r>
            <a:r>
              <a:rPr lang="en-US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ADB2C33-70FF-3200-3DB6-A2C8D316EBD7}"/>
              </a:ext>
            </a:extLst>
          </p:cNvPr>
          <p:cNvSpPr/>
          <p:nvPr/>
        </p:nvSpPr>
        <p:spPr>
          <a:xfrm>
            <a:off x="1786605" y="501941"/>
            <a:ext cx="1919881" cy="15914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Interpretive Enhancement</a:t>
            </a:r>
            <a:r>
              <a:rPr lang="en-US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E52619E-AADF-1F4D-4879-10B4A70EE2BF}"/>
              </a:ext>
            </a:extLst>
          </p:cNvPr>
          <p:cNvSpPr/>
          <p:nvPr/>
        </p:nvSpPr>
        <p:spPr>
          <a:xfrm>
            <a:off x="3854819" y="2274367"/>
            <a:ext cx="4452419" cy="13006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20D872E-DAE3-4C21-5A0C-DB8485237DDD}"/>
              </a:ext>
            </a:extLst>
          </p:cNvPr>
          <p:cNvGrpSpPr/>
          <p:nvPr/>
        </p:nvGrpSpPr>
        <p:grpSpPr>
          <a:xfrm>
            <a:off x="5595109" y="2577466"/>
            <a:ext cx="914400" cy="914400"/>
            <a:chOff x="4857755" y="2031061"/>
            <a:chExt cx="914400" cy="914400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0F60E7C3-4ADF-B951-A303-C38B4842E073}"/>
                </a:ext>
              </a:extLst>
            </p:cNvPr>
            <p:cNvGrpSpPr/>
            <p:nvPr/>
          </p:nvGrpSpPr>
          <p:grpSpPr>
            <a:xfrm>
              <a:off x="4857755" y="2031061"/>
              <a:ext cx="914400" cy="914400"/>
              <a:chOff x="4706869" y="3204516"/>
              <a:chExt cx="914400" cy="914400"/>
            </a:xfrm>
          </p:grpSpPr>
          <p:pic>
            <p:nvPicPr>
              <p:cNvPr id="84" name="Graphic 83" descr="Bar chart outline">
                <a:extLst>
                  <a:ext uri="{FF2B5EF4-FFF2-40B4-BE49-F238E27FC236}">
                    <a16:creationId xmlns:a16="http://schemas.microsoft.com/office/drawing/2014/main" id="{D780399C-A104-2BA2-5A23-4C863F4410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06869" y="320451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17037E01-BE7F-470F-D7C8-991CBBCF27B2}"/>
                  </a:ext>
                </a:extLst>
              </p:cNvPr>
              <p:cNvSpPr/>
              <p:nvPr/>
            </p:nvSpPr>
            <p:spPr>
              <a:xfrm>
                <a:off x="5075433" y="3345515"/>
                <a:ext cx="100584" cy="565795"/>
              </a:xfrm>
              <a:prstGeom prst="rect">
                <a:avLst/>
              </a:prstGeom>
              <a:solidFill>
                <a:srgbClr val="4EA72E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4C84496-078E-7BD7-F280-5A5AA76F9073}"/>
                  </a:ext>
                </a:extLst>
              </p:cNvPr>
              <p:cNvSpPr/>
              <p:nvPr/>
            </p:nvSpPr>
            <p:spPr>
              <a:xfrm>
                <a:off x="5382215" y="3709988"/>
                <a:ext cx="100584" cy="18989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D4DD73A-9D8E-FB10-DAF1-E47FBAF95E0F}"/>
                </a:ext>
              </a:extLst>
            </p:cNvPr>
            <p:cNvSpPr/>
            <p:nvPr/>
          </p:nvSpPr>
          <p:spPr>
            <a:xfrm>
              <a:off x="5353371" y="2295549"/>
              <a:ext cx="162609" cy="461644"/>
            </a:xfrm>
            <a:prstGeom prst="rect">
              <a:avLst/>
            </a:prstGeom>
            <a:solidFill>
              <a:schemeClr val="bg1">
                <a:alpha val="8200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3292D59-64AA-1E8D-8851-691D6C3A4099}"/>
                </a:ext>
              </a:extLst>
            </p:cNvPr>
            <p:cNvSpPr/>
            <p:nvPr/>
          </p:nvSpPr>
          <p:spPr>
            <a:xfrm>
              <a:off x="5048491" y="2313041"/>
              <a:ext cx="151359" cy="461644"/>
            </a:xfrm>
            <a:prstGeom prst="rect">
              <a:avLst/>
            </a:prstGeom>
            <a:solidFill>
              <a:schemeClr val="bg1">
                <a:alpha val="8200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FDD52CFE-380C-5AE0-F149-6B783C95E0BF}"/>
              </a:ext>
            </a:extLst>
          </p:cNvPr>
          <p:cNvSpPr txBox="1"/>
          <p:nvPr/>
        </p:nvSpPr>
        <p:spPr>
          <a:xfrm>
            <a:off x="5375687" y="3348323"/>
            <a:ext cx="1098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Month   1    2    3    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AB7C638-0B33-95DB-DB3B-76144EB40930}"/>
              </a:ext>
            </a:extLst>
          </p:cNvPr>
          <p:cNvSpPr/>
          <p:nvPr/>
        </p:nvSpPr>
        <p:spPr>
          <a:xfrm>
            <a:off x="3853426" y="501941"/>
            <a:ext cx="4452419" cy="16070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EDB42C8-AEFE-DDB2-9566-A4BBA83D0579}"/>
              </a:ext>
            </a:extLst>
          </p:cNvPr>
          <p:cNvGrpSpPr/>
          <p:nvPr/>
        </p:nvGrpSpPr>
        <p:grpSpPr>
          <a:xfrm>
            <a:off x="3879975" y="790260"/>
            <a:ext cx="761177" cy="761177"/>
            <a:chOff x="3184283" y="1909493"/>
            <a:chExt cx="914400" cy="914400"/>
          </a:xfrm>
        </p:grpSpPr>
        <p:pic>
          <p:nvPicPr>
            <p:cNvPr id="130" name="Graphic 129" descr="Table outline">
              <a:extLst>
                <a:ext uri="{FF2B5EF4-FFF2-40B4-BE49-F238E27FC236}">
                  <a16:creationId xmlns:a16="http://schemas.microsoft.com/office/drawing/2014/main" id="{80DE4359-CAB0-FAE0-E34C-12DD59BD0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84283" y="1909493"/>
              <a:ext cx="914400" cy="914400"/>
            </a:xfrm>
            <a:prstGeom prst="rect">
              <a:avLst/>
            </a:prstGeom>
          </p:spPr>
        </p:pic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E3402B9-5D13-D377-1634-E00618A08A54}"/>
                </a:ext>
              </a:extLst>
            </p:cNvPr>
            <p:cNvSpPr/>
            <p:nvPr/>
          </p:nvSpPr>
          <p:spPr>
            <a:xfrm>
              <a:off x="3283459" y="2096148"/>
              <a:ext cx="238127" cy="4977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E96D340-C091-CB82-175D-DCEA11013AD4}"/>
                </a:ext>
              </a:extLst>
            </p:cNvPr>
            <p:cNvSpPr/>
            <p:nvPr/>
          </p:nvSpPr>
          <p:spPr>
            <a:xfrm>
              <a:off x="3527484" y="2070783"/>
              <a:ext cx="485155" cy="565838"/>
            </a:xfrm>
            <a:prstGeom prst="rect">
              <a:avLst/>
            </a:prstGeom>
            <a:solidFill>
              <a:schemeClr val="bg1">
                <a:alpha val="8200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56518E5-D2A8-3E0F-28EC-7BED65422D55}"/>
              </a:ext>
            </a:extLst>
          </p:cNvPr>
          <p:cNvGrpSpPr/>
          <p:nvPr/>
        </p:nvGrpSpPr>
        <p:grpSpPr>
          <a:xfrm>
            <a:off x="3854600" y="1312820"/>
            <a:ext cx="796514" cy="821798"/>
            <a:chOff x="4526269" y="1342186"/>
            <a:chExt cx="914400" cy="914400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5F61552D-53A3-48D9-95BA-974679E2E578}"/>
                </a:ext>
              </a:extLst>
            </p:cNvPr>
            <p:cNvGrpSpPr/>
            <p:nvPr/>
          </p:nvGrpSpPr>
          <p:grpSpPr>
            <a:xfrm>
              <a:off x="4526269" y="1342186"/>
              <a:ext cx="914400" cy="914400"/>
              <a:chOff x="4050654" y="2415046"/>
              <a:chExt cx="914400" cy="914400"/>
            </a:xfrm>
          </p:grpSpPr>
          <p:pic>
            <p:nvPicPr>
              <p:cNvPr id="126" name="Graphic 125" descr="Gantt Chart outline">
                <a:extLst>
                  <a:ext uri="{FF2B5EF4-FFF2-40B4-BE49-F238E27FC236}">
                    <a16:creationId xmlns:a16="http://schemas.microsoft.com/office/drawing/2014/main" id="{30F0B8F2-7F82-652F-23F5-09D093FF41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050654" y="241504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3707C0F0-5D1D-339B-F93C-4B0D55BFDDAD}"/>
                  </a:ext>
                </a:extLst>
              </p:cNvPr>
              <p:cNvSpPr/>
              <p:nvPr/>
            </p:nvSpPr>
            <p:spPr>
              <a:xfrm>
                <a:off x="4696872" y="3052288"/>
                <a:ext cx="91440" cy="5788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F75CC771-F063-CBF4-FDC9-DADAF2B364AC}"/>
                  </a:ext>
                </a:extLst>
              </p:cNvPr>
              <p:cNvSpPr/>
              <p:nvPr/>
            </p:nvSpPr>
            <p:spPr>
              <a:xfrm>
                <a:off x="4257963" y="2561668"/>
                <a:ext cx="597593" cy="461644"/>
              </a:xfrm>
              <a:prstGeom prst="rect">
                <a:avLst/>
              </a:prstGeom>
              <a:solidFill>
                <a:schemeClr val="bg1">
                  <a:alpha val="82000"/>
                </a:schemeClr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7DC058B-857A-B8A3-666D-BD078A97C90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698686" y="1773731"/>
              <a:ext cx="610868" cy="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797AB8F-F2F8-5576-31E1-28AA62C14296}"/>
              </a:ext>
            </a:extLst>
          </p:cNvPr>
          <p:cNvSpPr/>
          <p:nvPr/>
        </p:nvSpPr>
        <p:spPr>
          <a:xfrm>
            <a:off x="8472195" y="3747416"/>
            <a:ext cx="1919881" cy="12977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Layer 1</a:t>
            </a:r>
          </a:p>
          <a:p>
            <a:pPr algn="ctr"/>
            <a:r>
              <a:rPr lang="en-US" b="1">
                <a:solidFill>
                  <a:schemeClr val="tx1"/>
                </a:solidFill>
              </a:rPr>
              <a:t>Perceptual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3675D77-49B9-72FA-0A70-AC662F6413EB}"/>
              </a:ext>
            </a:extLst>
          </p:cNvPr>
          <p:cNvSpPr/>
          <p:nvPr/>
        </p:nvSpPr>
        <p:spPr>
          <a:xfrm>
            <a:off x="8472195" y="2281358"/>
            <a:ext cx="1919881" cy="12977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Layer 2</a:t>
            </a:r>
          </a:p>
          <a:p>
            <a:pPr algn="ctr"/>
            <a:r>
              <a:rPr lang="en-US" b="1">
                <a:solidFill>
                  <a:schemeClr val="tx1"/>
                </a:solidFill>
              </a:rPr>
              <a:t>Reasoning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BBDD114-28E6-67C1-52CB-A0BDA1A74017}"/>
              </a:ext>
            </a:extLst>
          </p:cNvPr>
          <p:cNvSpPr/>
          <p:nvPr/>
        </p:nvSpPr>
        <p:spPr>
          <a:xfrm>
            <a:off x="8472195" y="510481"/>
            <a:ext cx="1919881" cy="15914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Layer 3</a:t>
            </a:r>
          </a:p>
          <a:p>
            <a:pPr algn="ctr"/>
            <a:r>
              <a:rPr lang="en-US" b="1">
                <a:solidFill>
                  <a:schemeClr val="tx1"/>
                </a:solidFill>
              </a:rPr>
              <a:t>Meaning </a:t>
            </a:r>
          </a:p>
        </p:txBody>
      </p:sp>
      <p:pic>
        <p:nvPicPr>
          <p:cNvPr id="162" name="Graphic 161" descr="Filter outline">
            <a:extLst>
              <a:ext uri="{FF2B5EF4-FFF2-40B4-BE49-F238E27FC236}">
                <a16:creationId xmlns:a16="http://schemas.microsoft.com/office/drawing/2014/main" id="{FB959A2E-3575-8D2D-408D-5AC5CE2FD0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39802" y="547874"/>
            <a:ext cx="266742" cy="266742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B06B4ADA-1C61-45E2-BFFB-DAF50D8449CE}"/>
              </a:ext>
            </a:extLst>
          </p:cNvPr>
          <p:cNvGrpSpPr/>
          <p:nvPr/>
        </p:nvGrpSpPr>
        <p:grpSpPr>
          <a:xfrm>
            <a:off x="4237215" y="3804584"/>
            <a:ext cx="914400" cy="914400"/>
            <a:chOff x="4706869" y="3204516"/>
            <a:chExt cx="914400" cy="914400"/>
          </a:xfrm>
        </p:grpSpPr>
        <p:pic>
          <p:nvPicPr>
            <p:cNvPr id="34" name="Graphic 33" descr="Bar chart outline">
              <a:extLst>
                <a:ext uri="{FF2B5EF4-FFF2-40B4-BE49-F238E27FC236}">
                  <a16:creationId xmlns:a16="http://schemas.microsoft.com/office/drawing/2014/main" id="{72DD4259-2E81-373D-0442-7BC3AC851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06869" y="3204516"/>
              <a:ext cx="914400" cy="914400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9046A57-20F4-A15B-ABAD-79CC5DA56015}"/>
                </a:ext>
              </a:extLst>
            </p:cNvPr>
            <p:cNvSpPr/>
            <p:nvPr/>
          </p:nvSpPr>
          <p:spPr>
            <a:xfrm>
              <a:off x="5070476" y="3347235"/>
              <a:ext cx="100584" cy="552643"/>
            </a:xfrm>
            <a:prstGeom prst="rect">
              <a:avLst/>
            </a:prstGeom>
            <a:solidFill>
              <a:srgbClr val="4EA72E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118951C-11CF-4C49-9213-CD79AEC8C439}"/>
                </a:ext>
              </a:extLst>
            </p:cNvPr>
            <p:cNvSpPr/>
            <p:nvPr/>
          </p:nvSpPr>
          <p:spPr>
            <a:xfrm>
              <a:off x="5382215" y="3709988"/>
              <a:ext cx="100584" cy="18989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FC49D0F-C5DC-9B64-53B2-425AEA6E3C9E}"/>
              </a:ext>
            </a:extLst>
          </p:cNvPr>
          <p:cNvSpPr txBox="1"/>
          <p:nvPr/>
        </p:nvSpPr>
        <p:spPr>
          <a:xfrm>
            <a:off x="3955233" y="4688061"/>
            <a:ext cx="14511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Sales by Month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FF1C62-470F-A87E-669F-579418266DC6}"/>
              </a:ext>
            </a:extLst>
          </p:cNvPr>
          <p:cNvSpPr txBox="1"/>
          <p:nvPr/>
        </p:nvSpPr>
        <p:spPr>
          <a:xfrm>
            <a:off x="5891955" y="3940738"/>
            <a:ext cx="19779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highlight>
                  <a:srgbClr val="FFFF00"/>
                </a:highlight>
              </a:rPr>
              <a:t>Graphical Accuracy</a:t>
            </a:r>
          </a:p>
          <a:p>
            <a:r>
              <a:rPr lang="en-US" sz="1200">
                <a:highlight>
                  <a:srgbClr val="FFFF00"/>
                </a:highlight>
              </a:rPr>
              <a:t>Gestalt Principles</a:t>
            </a:r>
          </a:p>
          <a:p>
            <a:r>
              <a:rPr lang="en-US" sz="1200">
                <a:highlight>
                  <a:srgbClr val="FFFF00"/>
                </a:highlight>
              </a:rPr>
              <a:t>Color Strategy</a:t>
            </a:r>
          </a:p>
          <a:p>
            <a:r>
              <a:rPr lang="en-US" sz="1200">
                <a:highlight>
                  <a:srgbClr val="FFFF00"/>
                </a:highlight>
              </a:rPr>
              <a:t>Layout &amp; Clutter Reduction</a:t>
            </a:r>
          </a:p>
          <a:p>
            <a:r>
              <a:rPr lang="en-US" sz="1200">
                <a:highlight>
                  <a:srgbClr val="FFFF00"/>
                </a:highlight>
              </a:rPr>
              <a:t>Text &amp; Labelling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60205C-AED8-0D64-6D99-55D0EA6215F3}"/>
              </a:ext>
            </a:extLst>
          </p:cNvPr>
          <p:cNvSpPr txBox="1"/>
          <p:nvPr/>
        </p:nvSpPr>
        <p:spPr>
          <a:xfrm>
            <a:off x="5161536" y="2229945"/>
            <a:ext cx="1982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Sales by Month</a:t>
            </a:r>
          </a:p>
          <a:p>
            <a:r>
              <a:rPr lang="en-US" sz="800"/>
              <a:t>Highlights of Peak and Low-Performing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8CC1C4-A997-64AD-9DE0-D685914C0632}"/>
              </a:ext>
            </a:extLst>
          </p:cNvPr>
          <p:cNvSpPr txBox="1"/>
          <p:nvPr/>
        </p:nvSpPr>
        <p:spPr>
          <a:xfrm>
            <a:off x="5830301" y="2522524"/>
            <a:ext cx="3481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100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BBDDB40-79CB-7883-7E55-DD2DB0056B38}"/>
              </a:ext>
            </a:extLst>
          </p:cNvPr>
          <p:cNvSpPr txBox="1"/>
          <p:nvPr/>
        </p:nvSpPr>
        <p:spPr>
          <a:xfrm>
            <a:off x="6178486" y="2871714"/>
            <a:ext cx="293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50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7ACF6E-8F82-1A7C-D272-5AE19FB58427}"/>
              </a:ext>
            </a:extLst>
          </p:cNvPr>
          <p:cNvSpPr txBox="1"/>
          <p:nvPr/>
        </p:nvSpPr>
        <p:spPr>
          <a:xfrm rot="19052740">
            <a:off x="4674501" y="3221619"/>
            <a:ext cx="5245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Focus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B58B73-EBBB-61F2-542B-F35CCE9BE098}"/>
              </a:ext>
            </a:extLst>
          </p:cNvPr>
          <p:cNvSpPr txBox="1"/>
          <p:nvPr/>
        </p:nvSpPr>
        <p:spPr>
          <a:xfrm>
            <a:off x="3865741" y="2373395"/>
            <a:ext cx="16021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highlight>
                  <a:srgbClr val="FFFF00"/>
                </a:highlight>
              </a:rPr>
              <a:t>Chart Types</a:t>
            </a:r>
          </a:p>
          <a:p>
            <a:r>
              <a:rPr lang="en-US" sz="1200">
                <a:highlight>
                  <a:srgbClr val="FFFF00"/>
                </a:highlight>
              </a:rPr>
              <a:t>Pattern, Focus</a:t>
            </a:r>
          </a:p>
          <a:p>
            <a:r>
              <a:rPr lang="en-US" sz="1200">
                <a:highlight>
                  <a:srgbClr val="FFFF00"/>
                </a:highlight>
              </a:rPr>
              <a:t>Semantic Consitency</a:t>
            </a:r>
          </a:p>
          <a:p>
            <a:r>
              <a:rPr lang="en-US" sz="1200">
                <a:highlight>
                  <a:srgbClr val="FFFF00"/>
                </a:highlight>
              </a:rPr>
              <a:t>Interactivity</a:t>
            </a:r>
          </a:p>
          <a:p>
            <a:endParaRPr lang="en-US" sz="1200">
              <a:highlight>
                <a:srgbClr val="FFFF00"/>
              </a:highlight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0808EA9-1388-FE3B-454E-95C8D18D21CE}"/>
              </a:ext>
            </a:extLst>
          </p:cNvPr>
          <p:cNvSpPr txBox="1"/>
          <p:nvPr/>
        </p:nvSpPr>
        <p:spPr>
          <a:xfrm rot="16200000">
            <a:off x="6766127" y="2924621"/>
            <a:ext cx="7027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Sales (M)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AD8B020-485A-C8CA-7776-48C3A1523F62}"/>
              </a:ext>
            </a:extLst>
          </p:cNvPr>
          <p:cNvSpPr txBox="1"/>
          <p:nvPr/>
        </p:nvSpPr>
        <p:spPr>
          <a:xfrm>
            <a:off x="6859323" y="3361364"/>
            <a:ext cx="1098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Week   1    2    3    4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7E632F4-BC9C-F3FD-FBBD-C931D5FC505E}"/>
              </a:ext>
            </a:extLst>
          </p:cNvPr>
          <p:cNvSpPr/>
          <p:nvPr/>
        </p:nvSpPr>
        <p:spPr>
          <a:xfrm>
            <a:off x="7289837" y="3140532"/>
            <a:ext cx="100584" cy="130019"/>
          </a:xfrm>
          <a:prstGeom prst="rect">
            <a:avLst/>
          </a:prstGeom>
          <a:solidFill>
            <a:schemeClr val="bg1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8EA4A62-629E-4C2C-B4A0-033138E9477F}"/>
              </a:ext>
            </a:extLst>
          </p:cNvPr>
          <p:cNvSpPr/>
          <p:nvPr/>
        </p:nvSpPr>
        <p:spPr>
          <a:xfrm>
            <a:off x="7447751" y="3190834"/>
            <a:ext cx="100584" cy="73134"/>
          </a:xfrm>
          <a:prstGeom prst="rect">
            <a:avLst/>
          </a:prstGeom>
          <a:solidFill>
            <a:schemeClr val="bg1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9045F0FF-AEB6-4A6D-3D1A-7D8EAC5A5243}"/>
              </a:ext>
            </a:extLst>
          </p:cNvPr>
          <p:cNvSpPr/>
          <p:nvPr/>
        </p:nvSpPr>
        <p:spPr>
          <a:xfrm>
            <a:off x="7596299" y="3140531"/>
            <a:ext cx="100584" cy="130019"/>
          </a:xfrm>
          <a:prstGeom prst="rect">
            <a:avLst/>
          </a:prstGeom>
          <a:solidFill>
            <a:schemeClr val="bg1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FFFA99A-8F58-8EF1-8F27-169510A18ED8}"/>
              </a:ext>
            </a:extLst>
          </p:cNvPr>
          <p:cNvSpPr/>
          <p:nvPr/>
        </p:nvSpPr>
        <p:spPr>
          <a:xfrm>
            <a:off x="7754213" y="3095876"/>
            <a:ext cx="100584" cy="171120"/>
          </a:xfrm>
          <a:prstGeom prst="rect">
            <a:avLst/>
          </a:prstGeom>
          <a:solidFill>
            <a:schemeClr val="bg1"/>
          </a:solidFill>
          <a:ln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4C22820B-5EFD-D956-01AE-578AC8649C67}"/>
              </a:ext>
            </a:extLst>
          </p:cNvPr>
          <p:cNvSpPr/>
          <p:nvPr/>
        </p:nvSpPr>
        <p:spPr>
          <a:xfrm>
            <a:off x="4645754" y="2834987"/>
            <a:ext cx="1266096" cy="1066800"/>
          </a:xfrm>
          <a:custGeom>
            <a:avLst/>
            <a:gdLst>
              <a:gd name="connsiteX0" fmla="*/ 2446 w 1266096"/>
              <a:gd name="connsiteY0" fmla="*/ 1066800 h 1066800"/>
              <a:gd name="connsiteX1" fmla="*/ 199296 w 1266096"/>
              <a:gd name="connsiteY1" fmla="*/ 431800 h 1066800"/>
              <a:gd name="connsiteX2" fmla="*/ 1266096 w 1266096"/>
              <a:gd name="connsiteY2" fmla="*/ 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6096" h="1066800">
                <a:moveTo>
                  <a:pt x="2446" y="1066800"/>
                </a:moveTo>
                <a:cubicBezTo>
                  <a:pt x="-4433" y="838200"/>
                  <a:pt x="-11312" y="609600"/>
                  <a:pt x="199296" y="431800"/>
                </a:cubicBezTo>
                <a:cubicBezTo>
                  <a:pt x="409904" y="254000"/>
                  <a:pt x="838000" y="127000"/>
                  <a:pt x="1266096" y="0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40AD56-DC21-B871-F756-3D13A2A92C4C}"/>
              </a:ext>
            </a:extLst>
          </p:cNvPr>
          <p:cNvSpPr txBox="1"/>
          <p:nvPr/>
        </p:nvSpPr>
        <p:spPr>
          <a:xfrm rot="16200000">
            <a:off x="5286844" y="2932260"/>
            <a:ext cx="7027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Sales (M)</a:t>
            </a:r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A5582AF6-0B6D-F11E-7C50-4DFEF907D9AF}"/>
              </a:ext>
            </a:extLst>
          </p:cNvPr>
          <p:cNvSpPr/>
          <p:nvPr/>
        </p:nvSpPr>
        <p:spPr>
          <a:xfrm>
            <a:off x="6113463" y="2620499"/>
            <a:ext cx="1434872" cy="362126"/>
          </a:xfrm>
          <a:custGeom>
            <a:avLst/>
            <a:gdLst>
              <a:gd name="connsiteX0" fmla="*/ 0 w 1376362"/>
              <a:gd name="connsiteY0" fmla="*/ 133526 h 362126"/>
              <a:gd name="connsiteX1" fmla="*/ 909637 w 1376362"/>
              <a:gd name="connsiteY1" fmla="*/ 9701 h 362126"/>
              <a:gd name="connsiteX2" fmla="*/ 1376362 w 1376362"/>
              <a:gd name="connsiteY2" fmla="*/ 362126 h 36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6362" h="362126">
                <a:moveTo>
                  <a:pt x="0" y="133526"/>
                </a:moveTo>
                <a:cubicBezTo>
                  <a:pt x="340121" y="52563"/>
                  <a:pt x="680243" y="-28399"/>
                  <a:pt x="909637" y="9701"/>
                </a:cubicBezTo>
                <a:cubicBezTo>
                  <a:pt x="1139031" y="47801"/>
                  <a:pt x="1257696" y="204963"/>
                  <a:pt x="1376362" y="362126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B83CED4-839B-B295-0985-6C5FD6ACEA09}"/>
              </a:ext>
            </a:extLst>
          </p:cNvPr>
          <p:cNvSpPr txBox="1"/>
          <p:nvPr/>
        </p:nvSpPr>
        <p:spPr>
          <a:xfrm>
            <a:off x="7212318" y="2379623"/>
            <a:ext cx="763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Filter</a:t>
            </a:r>
          </a:p>
          <a:p>
            <a:r>
              <a:rPr lang="en-US" sz="1000"/>
              <a:t>Drill-down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DF092BC3-BC94-0491-0183-6BC09588DC9F}"/>
              </a:ext>
            </a:extLst>
          </p:cNvPr>
          <p:cNvGrpSpPr/>
          <p:nvPr/>
        </p:nvGrpSpPr>
        <p:grpSpPr>
          <a:xfrm>
            <a:off x="4964504" y="921941"/>
            <a:ext cx="914400" cy="914400"/>
            <a:chOff x="4857755" y="2031061"/>
            <a:chExt cx="914400" cy="914400"/>
          </a:xfrm>
        </p:grpSpPr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B9E00EE5-1CC0-4BE3-E165-FD5B5E067677}"/>
                </a:ext>
              </a:extLst>
            </p:cNvPr>
            <p:cNvGrpSpPr/>
            <p:nvPr/>
          </p:nvGrpSpPr>
          <p:grpSpPr>
            <a:xfrm>
              <a:off x="4857755" y="2031061"/>
              <a:ext cx="914400" cy="914400"/>
              <a:chOff x="4706869" y="3204516"/>
              <a:chExt cx="914400" cy="914400"/>
            </a:xfrm>
          </p:grpSpPr>
          <p:pic>
            <p:nvPicPr>
              <p:cNvPr id="175" name="Graphic 174" descr="Bar chart outline">
                <a:extLst>
                  <a:ext uri="{FF2B5EF4-FFF2-40B4-BE49-F238E27FC236}">
                    <a16:creationId xmlns:a16="http://schemas.microsoft.com/office/drawing/2014/main" id="{ABF1AA20-B5C1-AFE9-6461-C668E275F3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06869" y="320451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2D9506D7-CA93-830D-ADF2-74AA82B0AD2E}"/>
                  </a:ext>
                </a:extLst>
              </p:cNvPr>
              <p:cNvSpPr/>
              <p:nvPr/>
            </p:nvSpPr>
            <p:spPr>
              <a:xfrm>
                <a:off x="5075433" y="3345515"/>
                <a:ext cx="100584" cy="565795"/>
              </a:xfrm>
              <a:prstGeom prst="rect">
                <a:avLst/>
              </a:prstGeom>
              <a:solidFill>
                <a:srgbClr val="4EA72E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5DA8F8BE-C60C-05A9-8784-5DB73FE289E7}"/>
                  </a:ext>
                </a:extLst>
              </p:cNvPr>
              <p:cNvSpPr/>
              <p:nvPr/>
            </p:nvSpPr>
            <p:spPr>
              <a:xfrm>
                <a:off x="5382215" y="3709988"/>
                <a:ext cx="100584" cy="18989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1C97BC7C-D760-81C6-1B0C-FF6589D1A057}"/>
                </a:ext>
              </a:extLst>
            </p:cNvPr>
            <p:cNvSpPr/>
            <p:nvPr/>
          </p:nvSpPr>
          <p:spPr>
            <a:xfrm>
              <a:off x="5353371" y="2295549"/>
              <a:ext cx="162609" cy="461644"/>
            </a:xfrm>
            <a:prstGeom prst="rect">
              <a:avLst/>
            </a:prstGeom>
            <a:solidFill>
              <a:schemeClr val="bg1">
                <a:alpha val="8200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CE760FD0-C749-6C37-6C04-5435B71A24F7}"/>
                </a:ext>
              </a:extLst>
            </p:cNvPr>
            <p:cNvSpPr/>
            <p:nvPr/>
          </p:nvSpPr>
          <p:spPr>
            <a:xfrm>
              <a:off x="5048491" y="2313041"/>
              <a:ext cx="151359" cy="461644"/>
            </a:xfrm>
            <a:prstGeom prst="rect">
              <a:avLst/>
            </a:prstGeom>
            <a:solidFill>
              <a:schemeClr val="bg1">
                <a:alpha val="8200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8" name="TextBox 177">
            <a:extLst>
              <a:ext uri="{FF2B5EF4-FFF2-40B4-BE49-F238E27FC236}">
                <a16:creationId xmlns:a16="http://schemas.microsoft.com/office/drawing/2014/main" id="{9BCB4A40-910D-36F3-CCF7-9DC46409C368}"/>
              </a:ext>
            </a:extLst>
          </p:cNvPr>
          <p:cNvSpPr txBox="1"/>
          <p:nvPr/>
        </p:nvSpPr>
        <p:spPr>
          <a:xfrm rot="16200000">
            <a:off x="4624666" y="1269282"/>
            <a:ext cx="7027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Sales (M)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F37CFD1-193F-90A2-6E51-3481F94F1FB0}"/>
              </a:ext>
            </a:extLst>
          </p:cNvPr>
          <p:cNvSpPr txBox="1"/>
          <p:nvPr/>
        </p:nvSpPr>
        <p:spPr>
          <a:xfrm>
            <a:off x="4712111" y="1750570"/>
            <a:ext cx="1098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Month    1     2     3     4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135E414-BC81-1E9B-4017-D189ABE28AEE}"/>
              </a:ext>
            </a:extLst>
          </p:cNvPr>
          <p:cNvSpPr txBox="1"/>
          <p:nvPr/>
        </p:nvSpPr>
        <p:spPr>
          <a:xfrm>
            <a:off x="4213729" y="496579"/>
            <a:ext cx="1982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Dashboard </a:t>
            </a:r>
            <a:r>
              <a:rPr lang="en-US" sz="1000"/>
              <a:t>| Sales by Month</a:t>
            </a:r>
          </a:p>
          <a:p>
            <a:r>
              <a:rPr lang="en-US" sz="800"/>
              <a:t>Highlights of Peak and Low-Performing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70375386-B675-D909-914C-E8DC7CAA21E7}"/>
              </a:ext>
            </a:extLst>
          </p:cNvPr>
          <p:cNvCxnSpPr>
            <a:cxnSpLocks/>
          </p:cNvCxnSpPr>
          <p:nvPr/>
        </p:nvCxnSpPr>
        <p:spPr>
          <a:xfrm>
            <a:off x="5139897" y="1263560"/>
            <a:ext cx="620741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8" name="Freeform: Shape 187">
            <a:extLst>
              <a:ext uri="{FF2B5EF4-FFF2-40B4-BE49-F238E27FC236}">
                <a16:creationId xmlns:a16="http://schemas.microsoft.com/office/drawing/2014/main" id="{DFFC2E0D-F77D-9D57-B8C6-9B95284F551C}"/>
              </a:ext>
            </a:extLst>
          </p:cNvPr>
          <p:cNvSpPr/>
          <p:nvPr/>
        </p:nvSpPr>
        <p:spPr>
          <a:xfrm>
            <a:off x="5712460" y="909924"/>
            <a:ext cx="760673" cy="1890772"/>
          </a:xfrm>
          <a:custGeom>
            <a:avLst/>
            <a:gdLst>
              <a:gd name="connsiteX0" fmla="*/ 655320 w 760673"/>
              <a:gd name="connsiteY0" fmla="*/ 2141220 h 2141220"/>
              <a:gd name="connsiteX1" fmla="*/ 754380 w 760673"/>
              <a:gd name="connsiteY1" fmla="*/ 1135380 h 2141220"/>
              <a:gd name="connsiteX2" fmla="*/ 495300 w 760673"/>
              <a:gd name="connsiteY2" fmla="*/ 487680 h 2141220"/>
              <a:gd name="connsiteX3" fmla="*/ 0 w 760673"/>
              <a:gd name="connsiteY3" fmla="*/ 0 h 2141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0673" h="2141220">
                <a:moveTo>
                  <a:pt x="655320" y="2141220"/>
                </a:moveTo>
                <a:cubicBezTo>
                  <a:pt x="718185" y="1776095"/>
                  <a:pt x="781050" y="1410970"/>
                  <a:pt x="754380" y="1135380"/>
                </a:cubicBezTo>
                <a:cubicBezTo>
                  <a:pt x="727710" y="859790"/>
                  <a:pt x="621030" y="676910"/>
                  <a:pt x="495300" y="487680"/>
                </a:cubicBezTo>
                <a:cubicBezTo>
                  <a:pt x="369570" y="298450"/>
                  <a:pt x="184785" y="149225"/>
                  <a:pt x="0" y="0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E66D9A93-E756-B37C-D27F-D909BADED9B9}"/>
              </a:ext>
            </a:extLst>
          </p:cNvPr>
          <p:cNvSpPr txBox="1"/>
          <p:nvPr/>
        </p:nvSpPr>
        <p:spPr>
          <a:xfrm>
            <a:off x="5627645" y="859256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Multi-</a:t>
            </a:r>
          </a:p>
          <a:p>
            <a:r>
              <a:rPr lang="en-US" sz="1000"/>
              <a:t>dimensional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3D781A33-0A4C-293A-76F0-A05791CA3517}"/>
              </a:ext>
            </a:extLst>
          </p:cNvPr>
          <p:cNvSpPr txBox="1"/>
          <p:nvPr/>
        </p:nvSpPr>
        <p:spPr>
          <a:xfrm>
            <a:off x="5206658" y="893486"/>
            <a:ext cx="3481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100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47B8B16-D7F7-9298-8677-C0259E77360E}"/>
              </a:ext>
            </a:extLst>
          </p:cNvPr>
          <p:cNvSpPr txBox="1"/>
          <p:nvPr/>
        </p:nvSpPr>
        <p:spPr>
          <a:xfrm>
            <a:off x="5554843" y="1242676"/>
            <a:ext cx="293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50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85F0525A-27A3-1597-5EF3-4E1547B2638D}"/>
              </a:ext>
            </a:extLst>
          </p:cNvPr>
          <p:cNvSpPr txBox="1"/>
          <p:nvPr/>
        </p:nvSpPr>
        <p:spPr>
          <a:xfrm>
            <a:off x="5824511" y="1498250"/>
            <a:ext cx="2427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Total 4-month sales reached </a:t>
            </a:r>
            <a:r>
              <a:rPr lang="en-US" sz="800" b="1"/>
              <a:t>300M</a:t>
            </a:r>
            <a:r>
              <a:rPr lang="en-US" sz="800"/>
              <a:t>, averaging </a:t>
            </a:r>
            <a:r>
              <a:rPr lang="en-US" sz="800" b="1"/>
              <a:t>75M</a:t>
            </a:r>
            <a:r>
              <a:rPr lang="en-US" sz="800"/>
              <a:t> per month. February was the peak at </a:t>
            </a:r>
            <a:r>
              <a:rPr lang="en-US" sz="800" b="1"/>
              <a:t>100M</a:t>
            </a:r>
            <a:r>
              <a:rPr lang="en-US" sz="800"/>
              <a:t> due to reason </a:t>
            </a:r>
            <a:r>
              <a:rPr lang="en-US" sz="800" b="1"/>
              <a:t>K</a:t>
            </a:r>
            <a:r>
              <a:rPr lang="en-US" sz="800"/>
              <a:t>. The business can explore and implement solutions </a:t>
            </a:r>
            <a:r>
              <a:rPr lang="en-US" sz="800" b="1"/>
              <a:t>X</a:t>
            </a:r>
            <a:r>
              <a:rPr lang="en-US" sz="800"/>
              <a:t> and </a:t>
            </a:r>
            <a:r>
              <a:rPr lang="en-US" sz="800" b="1"/>
              <a:t>Y</a:t>
            </a:r>
            <a:r>
              <a:rPr lang="en-US" sz="800"/>
              <a:t> to leverage this trend.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DE2F845-CC21-F42B-5087-82C4302E5114}"/>
              </a:ext>
            </a:extLst>
          </p:cNvPr>
          <p:cNvSpPr txBox="1"/>
          <p:nvPr/>
        </p:nvSpPr>
        <p:spPr>
          <a:xfrm>
            <a:off x="6738944" y="482567"/>
            <a:ext cx="1617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highlight>
                  <a:srgbClr val="FFFF00"/>
                </a:highlight>
              </a:rPr>
              <a:t>Contextual Cues</a:t>
            </a:r>
          </a:p>
          <a:p>
            <a:r>
              <a:rPr lang="en-US" sz="1200">
                <a:highlight>
                  <a:srgbClr val="FFFF00"/>
                </a:highlight>
              </a:rPr>
              <a:t>Insight Narratives</a:t>
            </a:r>
          </a:p>
          <a:p>
            <a:r>
              <a:rPr lang="en-US" sz="1200">
                <a:highlight>
                  <a:srgbClr val="FFFF00"/>
                </a:highlight>
              </a:rPr>
              <a:t>Performance</a:t>
            </a:r>
          </a:p>
          <a:p>
            <a:r>
              <a:rPr lang="en-US" sz="1200">
                <a:highlight>
                  <a:srgbClr val="FFFF00"/>
                </a:highlight>
              </a:rPr>
              <a:t>Baseline/Benchmark</a:t>
            </a:r>
          </a:p>
          <a:p>
            <a:r>
              <a:rPr lang="en-US" sz="1200">
                <a:highlight>
                  <a:srgbClr val="FFFF00"/>
                </a:highlight>
              </a:rPr>
              <a:t>Explanation</a:t>
            </a:r>
          </a:p>
          <a:p>
            <a:endParaRPr lang="en-US" sz="1200">
              <a:highlight>
                <a:srgbClr val="FFFF00"/>
              </a:highlight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4D8DD01-AF5C-BB94-9DDC-A5188A1C8C3A}"/>
              </a:ext>
            </a:extLst>
          </p:cNvPr>
          <p:cNvSpPr/>
          <p:nvPr/>
        </p:nvSpPr>
        <p:spPr>
          <a:xfrm>
            <a:off x="1786605" y="5216209"/>
            <a:ext cx="1919881" cy="12977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Visual Defaults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53048D1-BCF5-0DDA-83F4-6B96EE1774FE}"/>
              </a:ext>
            </a:extLst>
          </p:cNvPr>
          <p:cNvSpPr/>
          <p:nvPr/>
        </p:nvSpPr>
        <p:spPr>
          <a:xfrm>
            <a:off x="3846223" y="5216209"/>
            <a:ext cx="4452419" cy="12977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63949A70-DF52-0F81-BD73-F3B01CA1B3AF}"/>
              </a:ext>
            </a:extLst>
          </p:cNvPr>
          <p:cNvSpPr/>
          <p:nvPr/>
        </p:nvSpPr>
        <p:spPr>
          <a:xfrm>
            <a:off x="8472195" y="5224749"/>
            <a:ext cx="1919881" cy="12977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Layer 0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Display Data</a:t>
            </a:r>
          </a:p>
        </p:txBody>
      </p:sp>
      <p:pic>
        <p:nvPicPr>
          <p:cNvPr id="199" name="Graphic 198" descr="Bar chart outline">
            <a:extLst>
              <a:ext uri="{FF2B5EF4-FFF2-40B4-BE49-F238E27FC236}">
                <a16:creationId xmlns:a16="http://schemas.microsoft.com/office/drawing/2014/main" id="{F38B4C8F-4DDD-EEA7-8B26-F3B1AD873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7215" y="5281917"/>
            <a:ext cx="914400" cy="914400"/>
          </a:xfrm>
          <a:prstGeom prst="rect">
            <a:avLst/>
          </a:prstGeom>
        </p:spPr>
      </p:pic>
      <p:sp>
        <p:nvSpPr>
          <p:cNvPr id="202" name="TextBox 201">
            <a:extLst>
              <a:ext uri="{FF2B5EF4-FFF2-40B4-BE49-F238E27FC236}">
                <a16:creationId xmlns:a16="http://schemas.microsoft.com/office/drawing/2014/main" id="{1949DAA3-6ADE-5652-E15D-E0D5EF81C712}"/>
              </a:ext>
            </a:extLst>
          </p:cNvPr>
          <p:cNvSpPr txBox="1"/>
          <p:nvPr/>
        </p:nvSpPr>
        <p:spPr>
          <a:xfrm>
            <a:off x="3955233" y="6165394"/>
            <a:ext cx="14511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Sales by Month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14178D6-1F82-2D65-AA8F-67499B307C45}"/>
              </a:ext>
            </a:extLst>
          </p:cNvPr>
          <p:cNvSpPr txBox="1"/>
          <p:nvPr/>
        </p:nvSpPr>
        <p:spPr>
          <a:xfrm>
            <a:off x="5941905" y="5549986"/>
            <a:ext cx="12628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highlight>
                  <a:srgbClr val="FFFF00"/>
                </a:highlight>
              </a:rPr>
              <a:t>Basic Graphical </a:t>
            </a:r>
          </a:p>
          <a:p>
            <a:r>
              <a:rPr lang="en-US" sz="1200">
                <a:highlight>
                  <a:srgbClr val="FFFF00"/>
                </a:highlight>
              </a:rPr>
              <a:t>Display Data</a:t>
            </a:r>
          </a:p>
          <a:p>
            <a:r>
              <a:rPr lang="en-US" sz="1200">
                <a:highlight>
                  <a:srgbClr val="FFFF00"/>
                </a:highlight>
              </a:rPr>
              <a:t>Default Layout</a:t>
            </a:r>
          </a:p>
        </p:txBody>
      </p:sp>
      <p:sp>
        <p:nvSpPr>
          <p:cNvPr id="205" name="Freeform: Shape 204">
            <a:extLst>
              <a:ext uri="{FF2B5EF4-FFF2-40B4-BE49-F238E27FC236}">
                <a16:creationId xmlns:a16="http://schemas.microsoft.com/office/drawing/2014/main" id="{6E1E6B2C-913F-6AF2-BAE8-C2438922A99B}"/>
              </a:ext>
            </a:extLst>
          </p:cNvPr>
          <p:cNvSpPr/>
          <p:nvPr/>
        </p:nvSpPr>
        <p:spPr>
          <a:xfrm>
            <a:off x="5061527" y="4470400"/>
            <a:ext cx="323571" cy="1403927"/>
          </a:xfrm>
          <a:custGeom>
            <a:avLst/>
            <a:gdLst>
              <a:gd name="connsiteX0" fmla="*/ 0 w 323571"/>
              <a:gd name="connsiteY0" fmla="*/ 1403927 h 1403927"/>
              <a:gd name="connsiteX1" fmla="*/ 323273 w 323571"/>
              <a:gd name="connsiteY1" fmla="*/ 609600 h 1403927"/>
              <a:gd name="connsiteX2" fmla="*/ 46182 w 323571"/>
              <a:gd name="connsiteY2" fmla="*/ 0 h 1403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3571" h="1403927">
                <a:moveTo>
                  <a:pt x="0" y="1403927"/>
                </a:moveTo>
                <a:cubicBezTo>
                  <a:pt x="157788" y="1123757"/>
                  <a:pt x="315576" y="843588"/>
                  <a:pt x="323273" y="609600"/>
                </a:cubicBezTo>
                <a:cubicBezTo>
                  <a:pt x="330970" y="375612"/>
                  <a:pt x="188576" y="187806"/>
                  <a:pt x="46182" y="0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Freeform: Shape 205">
            <a:extLst>
              <a:ext uri="{FF2B5EF4-FFF2-40B4-BE49-F238E27FC236}">
                <a16:creationId xmlns:a16="http://schemas.microsoft.com/office/drawing/2014/main" id="{683BFA46-486B-3A73-798B-2C4965B44C7B}"/>
              </a:ext>
            </a:extLst>
          </p:cNvPr>
          <p:cNvSpPr/>
          <p:nvPr/>
        </p:nvSpPr>
        <p:spPr>
          <a:xfrm>
            <a:off x="3999237" y="4027055"/>
            <a:ext cx="545054" cy="1487054"/>
          </a:xfrm>
          <a:custGeom>
            <a:avLst/>
            <a:gdLst>
              <a:gd name="connsiteX0" fmla="*/ 545054 w 545054"/>
              <a:gd name="connsiteY0" fmla="*/ 1487054 h 1487054"/>
              <a:gd name="connsiteX1" fmla="*/ 108 w 545054"/>
              <a:gd name="connsiteY1" fmla="*/ 766618 h 1487054"/>
              <a:gd name="connsiteX2" fmla="*/ 508108 w 545054"/>
              <a:gd name="connsiteY2" fmla="*/ 0 h 1487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054" h="1487054">
                <a:moveTo>
                  <a:pt x="545054" y="1487054"/>
                </a:moveTo>
                <a:cubicBezTo>
                  <a:pt x="275660" y="1250757"/>
                  <a:pt x="6266" y="1014460"/>
                  <a:pt x="108" y="766618"/>
                </a:cubicBezTo>
                <a:cubicBezTo>
                  <a:pt x="-6050" y="518776"/>
                  <a:pt x="251029" y="259388"/>
                  <a:pt x="508108" y="0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47C0336-1B0F-1159-E30D-6FCAB03812C2}"/>
              </a:ext>
            </a:extLst>
          </p:cNvPr>
          <p:cNvSpPr txBox="1"/>
          <p:nvPr/>
        </p:nvSpPr>
        <p:spPr>
          <a:xfrm>
            <a:off x="5266914" y="5340348"/>
            <a:ext cx="7409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Highlights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4B9B9DE2-3AFA-5F1E-0B67-475314C9B333}"/>
              </a:ext>
            </a:extLst>
          </p:cNvPr>
          <p:cNvSpPr txBox="1"/>
          <p:nvPr/>
        </p:nvSpPr>
        <p:spPr>
          <a:xfrm rot="18383255">
            <a:off x="3699639" y="4211483"/>
            <a:ext cx="7409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Highlights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F59A98E6-3C1A-83CB-4D58-19CB9C241AE4}"/>
              </a:ext>
            </a:extLst>
          </p:cNvPr>
          <p:cNvSpPr/>
          <p:nvPr/>
        </p:nvSpPr>
        <p:spPr>
          <a:xfrm>
            <a:off x="10492509" y="510481"/>
            <a:ext cx="552012" cy="45346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23D2FDEA-0C30-35CF-C985-C00FD930E0BB}"/>
              </a:ext>
            </a:extLst>
          </p:cNvPr>
          <p:cNvSpPr txBox="1"/>
          <p:nvPr/>
        </p:nvSpPr>
        <p:spPr>
          <a:xfrm rot="16200000">
            <a:off x="8736724" y="2537913"/>
            <a:ext cx="4079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Enhanced Visual EDA Framework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A8F929B5-4489-BC50-EE8E-B7523CA95581}"/>
              </a:ext>
            </a:extLst>
          </p:cNvPr>
          <p:cNvSpPr/>
          <p:nvPr/>
        </p:nvSpPr>
        <p:spPr>
          <a:xfrm>
            <a:off x="10492509" y="5224749"/>
            <a:ext cx="552012" cy="12977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E4C40C62-133C-7978-1A5D-FEA71FAAD652}"/>
              </a:ext>
            </a:extLst>
          </p:cNvPr>
          <p:cNvSpPr txBox="1"/>
          <p:nvPr/>
        </p:nvSpPr>
        <p:spPr>
          <a:xfrm rot="16200000">
            <a:off x="10190911" y="5648261"/>
            <a:ext cx="1149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Baseline</a:t>
            </a:r>
          </a:p>
        </p:txBody>
      </p:sp>
      <p:sp>
        <p:nvSpPr>
          <p:cNvPr id="213" name="Freeform: Shape 212">
            <a:extLst>
              <a:ext uri="{FF2B5EF4-FFF2-40B4-BE49-F238E27FC236}">
                <a16:creationId xmlns:a16="http://schemas.microsoft.com/office/drawing/2014/main" id="{25EB85B6-A1B9-3AB4-B947-3F38D4A92566}"/>
              </a:ext>
            </a:extLst>
          </p:cNvPr>
          <p:cNvSpPr/>
          <p:nvPr/>
        </p:nvSpPr>
        <p:spPr>
          <a:xfrm>
            <a:off x="4293960" y="849283"/>
            <a:ext cx="946205" cy="240170"/>
          </a:xfrm>
          <a:custGeom>
            <a:avLst/>
            <a:gdLst>
              <a:gd name="connsiteX0" fmla="*/ 0 w 946205"/>
              <a:gd name="connsiteY0" fmla="*/ 240170 h 240170"/>
              <a:gd name="connsiteX1" fmla="*/ 445273 w 946205"/>
              <a:gd name="connsiteY1" fmla="*/ 1631 h 240170"/>
              <a:gd name="connsiteX2" fmla="*/ 946205 w 946205"/>
              <a:gd name="connsiteY2" fmla="*/ 128852 h 240170"/>
              <a:gd name="connsiteX3" fmla="*/ 946205 w 946205"/>
              <a:gd name="connsiteY3" fmla="*/ 128852 h 240170"/>
              <a:gd name="connsiteX4" fmla="*/ 946205 w 946205"/>
              <a:gd name="connsiteY4" fmla="*/ 128852 h 240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205" h="240170">
                <a:moveTo>
                  <a:pt x="0" y="240170"/>
                </a:moveTo>
                <a:cubicBezTo>
                  <a:pt x="143786" y="130177"/>
                  <a:pt x="287572" y="20184"/>
                  <a:pt x="445273" y="1631"/>
                </a:cubicBezTo>
                <a:cubicBezTo>
                  <a:pt x="602974" y="-16922"/>
                  <a:pt x="946205" y="128852"/>
                  <a:pt x="946205" y="128852"/>
                </a:cubicBezTo>
                <a:lnTo>
                  <a:pt x="946205" y="128852"/>
                </a:lnTo>
                <a:lnTo>
                  <a:pt x="946205" y="12885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Freeform: Shape 213">
            <a:extLst>
              <a:ext uri="{FF2B5EF4-FFF2-40B4-BE49-F238E27FC236}">
                <a16:creationId xmlns:a16="http://schemas.microsoft.com/office/drawing/2014/main" id="{9DABD132-C54B-8886-822E-675CC7509680}"/>
              </a:ext>
            </a:extLst>
          </p:cNvPr>
          <p:cNvSpPr/>
          <p:nvPr/>
        </p:nvSpPr>
        <p:spPr>
          <a:xfrm>
            <a:off x="4285487" y="1168999"/>
            <a:ext cx="303418" cy="604299"/>
          </a:xfrm>
          <a:custGeom>
            <a:avLst/>
            <a:gdLst>
              <a:gd name="connsiteX0" fmla="*/ 0 w 303418"/>
              <a:gd name="connsiteY0" fmla="*/ 0 h 604299"/>
              <a:gd name="connsiteX1" fmla="*/ 286247 w 303418"/>
              <a:gd name="connsiteY1" fmla="*/ 302149 h 604299"/>
              <a:gd name="connsiteX2" fmla="*/ 246490 w 303418"/>
              <a:gd name="connsiteY2" fmla="*/ 604299 h 604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3418" h="604299">
                <a:moveTo>
                  <a:pt x="0" y="0"/>
                </a:moveTo>
                <a:cubicBezTo>
                  <a:pt x="122582" y="100716"/>
                  <a:pt x="245165" y="201433"/>
                  <a:pt x="286247" y="302149"/>
                </a:cubicBezTo>
                <a:cubicBezTo>
                  <a:pt x="327329" y="402865"/>
                  <a:pt x="286909" y="503582"/>
                  <a:pt x="246490" y="604299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358676B-F408-B611-CA23-65733DAE6BB4}"/>
              </a:ext>
            </a:extLst>
          </p:cNvPr>
          <p:cNvSpPr txBox="1"/>
          <p:nvPr/>
        </p:nvSpPr>
        <p:spPr>
          <a:xfrm>
            <a:off x="4304880" y="1013433"/>
            <a:ext cx="6206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1966878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11070A-791D-DBD8-130E-06EBF5C0970F}"/>
              </a:ext>
            </a:extLst>
          </p:cNvPr>
          <p:cNvSpPr/>
          <p:nvPr/>
        </p:nvSpPr>
        <p:spPr>
          <a:xfrm>
            <a:off x="271605" y="360878"/>
            <a:ext cx="6174463" cy="505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H0: The Enhanced EDA dashboard has a significant impact on participants’ analytical performance, cognitive load, engagement, and user experience.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AEFE8F-59A9-1765-BA32-2E8AB6967FF6}"/>
              </a:ext>
            </a:extLst>
          </p:cNvPr>
          <p:cNvGrpSpPr/>
          <p:nvPr/>
        </p:nvGrpSpPr>
        <p:grpSpPr>
          <a:xfrm>
            <a:off x="2706987" y="1045874"/>
            <a:ext cx="3739081" cy="1351107"/>
            <a:chOff x="968721" y="942366"/>
            <a:chExt cx="3739081" cy="135110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871EF99-4C02-681E-BE7C-6102D8651062}"/>
                </a:ext>
              </a:extLst>
            </p:cNvPr>
            <p:cNvGrpSpPr/>
            <p:nvPr/>
          </p:nvGrpSpPr>
          <p:grpSpPr>
            <a:xfrm>
              <a:off x="968721" y="1058601"/>
              <a:ext cx="3739081" cy="1234872"/>
              <a:chOff x="968721" y="1058601"/>
              <a:chExt cx="3739081" cy="123487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E73E61-D426-2728-85DE-5B52961D26BB}"/>
                  </a:ext>
                </a:extLst>
              </p:cNvPr>
              <p:cNvSpPr/>
              <p:nvPr/>
            </p:nvSpPr>
            <p:spPr>
              <a:xfrm>
                <a:off x="968721" y="1058601"/>
                <a:ext cx="3739081" cy="123487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025ADC2-2087-19A4-A77E-8FF19A808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44356" y="1169355"/>
                <a:ext cx="1110370" cy="1023471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32C521DA-52FA-DBFF-419D-A74D8D4481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0361" y="1169355"/>
                <a:ext cx="1110370" cy="1028299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E93876C8-E190-8D52-2003-98F5CC8BBB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6366" y="1169355"/>
                <a:ext cx="1171652" cy="1078231"/>
              </a:xfrm>
              <a:prstGeom prst="rect">
                <a:avLst/>
              </a:prstGeom>
            </p:spPr>
          </p:pic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C4A96D2-8425-2735-E60B-CC2935C72176}"/>
                </a:ext>
              </a:extLst>
            </p:cNvPr>
            <p:cNvSpPr/>
            <p:nvPr/>
          </p:nvSpPr>
          <p:spPr>
            <a:xfrm>
              <a:off x="1044355" y="942366"/>
              <a:ext cx="1653578" cy="226989"/>
            </a:xfrm>
            <a:prstGeom prst="rect">
              <a:avLst/>
            </a:prstGeom>
            <a:solidFill>
              <a:srgbClr val="118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Baseline Dashboard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6194E00-0345-B16F-5F3E-7AF3629D4B0D}"/>
              </a:ext>
            </a:extLst>
          </p:cNvPr>
          <p:cNvGrpSpPr/>
          <p:nvPr/>
        </p:nvGrpSpPr>
        <p:grpSpPr>
          <a:xfrm>
            <a:off x="1013989" y="2696962"/>
            <a:ext cx="5432079" cy="1390689"/>
            <a:chOff x="968721" y="2333232"/>
            <a:chExt cx="5432079" cy="139068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A473A9-15B8-6FE6-81DB-DB1E6B6DBE1F}"/>
                </a:ext>
              </a:extLst>
            </p:cNvPr>
            <p:cNvSpPr/>
            <p:nvPr/>
          </p:nvSpPr>
          <p:spPr>
            <a:xfrm>
              <a:off x="968721" y="2489049"/>
              <a:ext cx="5432079" cy="1234872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0A0FC34-2F7C-07D1-7211-3207D8016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4357" y="2593987"/>
              <a:ext cx="1110370" cy="102865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6FEB5FA-851A-140D-1B95-4C01A6BC8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95683" y="2588796"/>
              <a:ext cx="1110370" cy="1035378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1A8C552-4D57-1A4A-8D7D-C3A7C0089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48685" y="2588796"/>
              <a:ext cx="1748416" cy="109240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6D9E2F-DFB6-D477-54BE-C2002DDD61F0}"/>
                </a:ext>
              </a:extLst>
            </p:cNvPr>
            <p:cNvSpPr/>
            <p:nvPr/>
          </p:nvSpPr>
          <p:spPr>
            <a:xfrm>
              <a:off x="5177483" y="2596931"/>
              <a:ext cx="1113576" cy="3093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Interpretive</a:t>
              </a:r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4A889E7-E935-62C2-2BC6-959CCBA65895}"/>
                </a:ext>
              </a:extLst>
            </p:cNvPr>
            <p:cNvSpPr/>
            <p:nvPr/>
          </p:nvSpPr>
          <p:spPr>
            <a:xfrm>
              <a:off x="5177483" y="2950827"/>
              <a:ext cx="1113576" cy="3093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Cognitive</a:t>
              </a:r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CA6EF46-4844-4AA3-5F30-5788E357D816}"/>
                </a:ext>
              </a:extLst>
            </p:cNvPr>
            <p:cNvSpPr/>
            <p:nvPr/>
          </p:nvSpPr>
          <p:spPr>
            <a:xfrm>
              <a:off x="5177483" y="3313242"/>
              <a:ext cx="1113576" cy="3093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Visual</a:t>
              </a:r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8A3C9A5-A3AD-D611-3BE6-0F7E9D62AEA1}"/>
                </a:ext>
              </a:extLst>
            </p:cNvPr>
            <p:cNvSpPr/>
            <p:nvPr/>
          </p:nvSpPr>
          <p:spPr>
            <a:xfrm>
              <a:off x="1044355" y="2333232"/>
              <a:ext cx="1653578" cy="226989"/>
            </a:xfrm>
            <a:prstGeom prst="rect">
              <a:avLst/>
            </a:prstGeom>
            <a:solidFill>
              <a:srgbClr val="118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Enhanced Dashboard</a:t>
              </a:r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C955B46-D141-4CD2-7C97-B0D4F05F0B15}"/>
              </a:ext>
            </a:extLst>
          </p:cNvPr>
          <p:cNvSpPr/>
          <p:nvPr/>
        </p:nvSpPr>
        <p:spPr>
          <a:xfrm>
            <a:off x="271606" y="1412879"/>
            <a:ext cx="1500704" cy="73333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Power Analysis with Cliff’s Delta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EF8E195-7118-AA9E-5B15-644DD4964887}"/>
              </a:ext>
            </a:extLst>
          </p:cNvPr>
          <p:cNvCxnSpPr>
            <a:cxnSpLocks/>
            <a:stCxn id="10" idx="1"/>
            <a:endCxn id="35" idx="1"/>
          </p:cNvCxnSpPr>
          <p:nvPr/>
        </p:nvCxnSpPr>
        <p:spPr>
          <a:xfrm rot="10800000" flipH="1" flipV="1">
            <a:off x="271604" y="613747"/>
            <a:ext cx="1" cy="1165798"/>
          </a:xfrm>
          <a:prstGeom prst="bentConnector3">
            <a:avLst>
              <a:gd name="adj1" fmla="val -22860000000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69005B8-FB29-F7F8-78EB-2CB7ECC61957}"/>
              </a:ext>
            </a:extLst>
          </p:cNvPr>
          <p:cNvCxnSpPr>
            <a:cxnSpLocks/>
            <a:stCxn id="35" idx="3"/>
            <a:endCxn id="7" idx="1"/>
          </p:cNvCxnSpPr>
          <p:nvPr/>
        </p:nvCxnSpPr>
        <p:spPr>
          <a:xfrm>
            <a:off x="1772310" y="1779545"/>
            <a:ext cx="934677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76BB571-644E-7A1B-B12F-684CBF486701}"/>
              </a:ext>
            </a:extLst>
          </p:cNvPr>
          <p:cNvSpPr txBox="1"/>
          <p:nvPr/>
        </p:nvSpPr>
        <p:spPr>
          <a:xfrm>
            <a:off x="1817833" y="1475575"/>
            <a:ext cx="841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50 people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16E6F13-BBFC-CBED-EC9E-83ADF37507D5}"/>
              </a:ext>
            </a:extLst>
          </p:cNvPr>
          <p:cNvCxnSpPr>
            <a:cxnSpLocks/>
            <a:stCxn id="35" idx="2"/>
            <a:endCxn id="13" idx="1"/>
          </p:cNvCxnSpPr>
          <p:nvPr/>
        </p:nvCxnSpPr>
        <p:spPr>
          <a:xfrm rot="5400000">
            <a:off x="355972" y="2804228"/>
            <a:ext cx="1324005" cy="7969"/>
          </a:xfrm>
          <a:prstGeom prst="bentConnector4">
            <a:avLst>
              <a:gd name="adj1" fmla="val 26683"/>
              <a:gd name="adj2" fmla="val 2968616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0295B1F-B7DB-FC05-E482-7C8C0C8E2BBC}"/>
              </a:ext>
            </a:extLst>
          </p:cNvPr>
          <p:cNvSpPr txBox="1"/>
          <p:nvPr/>
        </p:nvSpPr>
        <p:spPr>
          <a:xfrm rot="16200000">
            <a:off x="199358" y="2816716"/>
            <a:ext cx="841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50 people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87CE8C0-3990-0CD5-7DF4-8A373F656A72}"/>
              </a:ext>
            </a:extLst>
          </p:cNvPr>
          <p:cNvSpPr/>
          <p:nvPr/>
        </p:nvSpPr>
        <p:spPr>
          <a:xfrm>
            <a:off x="7229476" y="360878"/>
            <a:ext cx="1960642" cy="73333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Pre-Processing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79E42898-4EFC-8F77-5A8C-B53586F06C23}"/>
              </a:ext>
            </a:extLst>
          </p:cNvPr>
          <p:cNvCxnSpPr>
            <a:cxnSpLocks/>
            <a:stCxn id="7" idx="3"/>
            <a:endCxn id="55" idx="1"/>
          </p:cNvCxnSpPr>
          <p:nvPr/>
        </p:nvCxnSpPr>
        <p:spPr>
          <a:xfrm flipV="1">
            <a:off x="6446068" y="727544"/>
            <a:ext cx="783408" cy="1052001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ED677DD-4952-8EDA-5466-E77F719F5D92}"/>
              </a:ext>
            </a:extLst>
          </p:cNvPr>
          <p:cNvSpPr txBox="1"/>
          <p:nvPr/>
        </p:nvSpPr>
        <p:spPr>
          <a:xfrm rot="16200000">
            <a:off x="6051009" y="1006820"/>
            <a:ext cx="12538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47 people (94%)</a:t>
            </a: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23B28CA4-7818-9D6C-7228-7A2F768037ED}"/>
              </a:ext>
            </a:extLst>
          </p:cNvPr>
          <p:cNvCxnSpPr>
            <a:cxnSpLocks/>
            <a:stCxn id="13" idx="3"/>
            <a:endCxn id="55" idx="1"/>
          </p:cNvCxnSpPr>
          <p:nvPr/>
        </p:nvCxnSpPr>
        <p:spPr>
          <a:xfrm flipV="1">
            <a:off x="6446068" y="727544"/>
            <a:ext cx="783408" cy="2742671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05208C9-46CC-901F-3CC8-44BE0C45B25A}"/>
              </a:ext>
            </a:extLst>
          </p:cNvPr>
          <p:cNvSpPr txBox="1"/>
          <p:nvPr/>
        </p:nvSpPr>
        <p:spPr>
          <a:xfrm rot="16200000">
            <a:off x="6049592" y="2417235"/>
            <a:ext cx="12538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46 people (92%)</a:t>
            </a:r>
          </a:p>
        </p:txBody>
      </p:sp>
      <p:cxnSp>
        <p:nvCxnSpPr>
          <p:cNvPr id="96" name="Connector: Curved 95">
            <a:extLst>
              <a:ext uri="{FF2B5EF4-FFF2-40B4-BE49-F238E27FC236}">
                <a16:creationId xmlns:a16="http://schemas.microsoft.com/office/drawing/2014/main" id="{918FB59A-4DFF-7E8A-96B8-27108264865F}"/>
              </a:ext>
            </a:extLst>
          </p:cNvPr>
          <p:cNvCxnSpPr>
            <a:cxnSpLocks/>
            <a:stCxn id="55" idx="3"/>
            <a:endCxn id="89" idx="1"/>
          </p:cNvCxnSpPr>
          <p:nvPr/>
        </p:nvCxnSpPr>
        <p:spPr>
          <a:xfrm>
            <a:off x="9190118" y="727544"/>
            <a:ext cx="680399" cy="89327"/>
          </a:xfrm>
          <a:prstGeom prst="curvedConnector3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Connector: Curved 97">
            <a:extLst>
              <a:ext uri="{FF2B5EF4-FFF2-40B4-BE49-F238E27FC236}">
                <a16:creationId xmlns:a16="http://schemas.microsoft.com/office/drawing/2014/main" id="{652AFDED-5348-3AC2-6DD6-66E73FAC88F4}"/>
              </a:ext>
            </a:extLst>
          </p:cNvPr>
          <p:cNvCxnSpPr>
            <a:cxnSpLocks/>
            <a:stCxn id="55" idx="3"/>
            <a:endCxn id="90" idx="1"/>
          </p:cNvCxnSpPr>
          <p:nvPr/>
        </p:nvCxnSpPr>
        <p:spPr>
          <a:xfrm>
            <a:off x="9190118" y="727544"/>
            <a:ext cx="680399" cy="137181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CD2EE6D2-659E-F553-0476-0BD71DFB62F6}"/>
              </a:ext>
            </a:extLst>
          </p:cNvPr>
          <p:cNvCxnSpPr>
            <a:cxnSpLocks/>
            <a:stCxn id="55" idx="3"/>
            <a:endCxn id="91" idx="1"/>
          </p:cNvCxnSpPr>
          <p:nvPr/>
        </p:nvCxnSpPr>
        <p:spPr>
          <a:xfrm>
            <a:off x="9190118" y="727544"/>
            <a:ext cx="680399" cy="2496624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Connector: Curved 102">
            <a:extLst>
              <a:ext uri="{FF2B5EF4-FFF2-40B4-BE49-F238E27FC236}">
                <a16:creationId xmlns:a16="http://schemas.microsoft.com/office/drawing/2014/main" id="{59AF27D1-056E-6388-3D0E-A2BEA791CD07}"/>
              </a:ext>
            </a:extLst>
          </p:cNvPr>
          <p:cNvCxnSpPr>
            <a:cxnSpLocks/>
            <a:stCxn id="55" idx="3"/>
            <a:endCxn id="92" idx="1"/>
          </p:cNvCxnSpPr>
          <p:nvPr/>
        </p:nvCxnSpPr>
        <p:spPr>
          <a:xfrm>
            <a:off x="9190118" y="727544"/>
            <a:ext cx="680399" cy="3002395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87E6F94-DCB3-D68F-C5B5-71B5BC52F74F}"/>
              </a:ext>
            </a:extLst>
          </p:cNvPr>
          <p:cNvGrpSpPr/>
          <p:nvPr/>
        </p:nvGrpSpPr>
        <p:grpSpPr>
          <a:xfrm>
            <a:off x="9251725" y="333719"/>
            <a:ext cx="2839361" cy="3543228"/>
            <a:chOff x="9206457" y="216029"/>
            <a:chExt cx="2839361" cy="3543228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97523E88-2F9F-059D-4860-A3D5A1DBF00F}"/>
                </a:ext>
              </a:extLst>
            </p:cNvPr>
            <p:cNvGrpSpPr/>
            <p:nvPr/>
          </p:nvGrpSpPr>
          <p:grpSpPr>
            <a:xfrm>
              <a:off x="9825249" y="216029"/>
              <a:ext cx="2220569" cy="3543228"/>
              <a:chOff x="9825249" y="216029"/>
              <a:chExt cx="2220569" cy="3543228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54D4B7C-15ED-CDB4-258A-4ADAADC914CC}"/>
                  </a:ext>
                </a:extLst>
              </p:cNvPr>
              <p:cNvSpPr txBox="1"/>
              <p:nvPr/>
            </p:nvSpPr>
            <p:spPr>
              <a:xfrm>
                <a:off x="9886856" y="216029"/>
                <a:ext cx="9555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  <a:r>
                  <a:rPr lang="en-US"/>
                  <a:t> </a:t>
                </a:r>
                <a:r>
                  <a:rPr lang="en-US" sz="1200"/>
                  <a:t>Accuracy 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7DFDE3A-5B76-018C-41F5-925DD8F8DE9C}"/>
                  </a:ext>
                </a:extLst>
              </p:cNvPr>
              <p:cNvSpPr txBox="1"/>
              <p:nvPr/>
            </p:nvSpPr>
            <p:spPr>
              <a:xfrm>
                <a:off x="9886856" y="535672"/>
                <a:ext cx="6319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↓</a:t>
                </a:r>
                <a:r>
                  <a:rPr lang="en-US"/>
                  <a:t> </a:t>
                </a:r>
                <a:r>
                  <a:rPr lang="en-US" sz="1200"/>
                  <a:t>Time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ACC39DA-8045-434A-5582-F1D3CBA043A5}"/>
                  </a:ext>
                </a:extLst>
              </p:cNvPr>
              <p:cNvSpPr txBox="1"/>
              <p:nvPr/>
            </p:nvSpPr>
            <p:spPr>
              <a:xfrm>
                <a:off x="9886856" y="819103"/>
                <a:ext cx="1114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  <a:r>
                  <a:rPr lang="en-US"/>
                  <a:t> </a:t>
                </a:r>
                <a:r>
                  <a:rPr lang="en-US" sz="1200"/>
                  <a:t>Confidence 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7A55DD-6BC9-41C6-D1F5-EBD50DB6132B}"/>
                  </a:ext>
                </a:extLst>
              </p:cNvPr>
              <p:cNvSpPr txBox="1"/>
              <p:nvPr/>
            </p:nvSpPr>
            <p:spPr>
              <a:xfrm>
                <a:off x="9886856" y="1202117"/>
                <a:ext cx="16230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↓ </a:t>
                </a:r>
                <a:r>
                  <a:rPr lang="en-US" sz="1200"/>
                  <a:t>Cognitive Load (CL) 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1173083-D815-99A8-69E4-4BC53D7E30E4}"/>
                  </a:ext>
                </a:extLst>
              </p:cNvPr>
              <p:cNvSpPr txBox="1"/>
              <p:nvPr/>
            </p:nvSpPr>
            <p:spPr>
              <a:xfrm>
                <a:off x="9886856" y="1841403"/>
                <a:ext cx="20689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 </a:t>
                </a:r>
                <a:r>
                  <a:rPr lang="en-US" sz="1200"/>
                  <a:t>Analytical Confidence (CF)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392C9E9-A659-7087-0564-F110108E6FCE}"/>
                  </a:ext>
                </a:extLst>
              </p:cNvPr>
              <p:cNvSpPr txBox="1"/>
              <p:nvPr/>
            </p:nvSpPr>
            <p:spPr>
              <a:xfrm>
                <a:off x="9886856" y="1521760"/>
                <a:ext cx="17302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 </a:t>
                </a:r>
                <a:r>
                  <a:rPr lang="en-US" sz="1200"/>
                  <a:t>Perceived Clarity (PC)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14C3342-2542-ECD3-1198-8C39FA703DF6}"/>
                  </a:ext>
                </a:extLst>
              </p:cNvPr>
              <p:cNvSpPr txBox="1"/>
              <p:nvPr/>
            </p:nvSpPr>
            <p:spPr>
              <a:xfrm>
                <a:off x="9886856" y="2161046"/>
                <a:ext cx="17652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 </a:t>
                </a:r>
                <a:r>
                  <a:rPr lang="en-US" sz="1200"/>
                  <a:t>Decision Support (DS)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771EBF7-A1B4-FC7E-3F95-2B72CA8AA724}"/>
                  </a:ext>
                </a:extLst>
              </p:cNvPr>
              <p:cNvSpPr txBox="1"/>
              <p:nvPr/>
            </p:nvSpPr>
            <p:spPr>
              <a:xfrm>
                <a:off x="9886856" y="2480689"/>
                <a:ext cx="209807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 </a:t>
                </a:r>
                <a:r>
                  <a:rPr lang="en-US" sz="1200"/>
                  <a:t>Cognitive Engagement (CE)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DB93F8C-EA41-5CFF-6811-A451B3CA06D2}"/>
                  </a:ext>
                </a:extLst>
              </p:cNvPr>
              <p:cNvSpPr txBox="1"/>
              <p:nvPr/>
            </p:nvSpPr>
            <p:spPr>
              <a:xfrm>
                <a:off x="9886856" y="2800332"/>
                <a:ext cx="11463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 </a:t>
                </a:r>
                <a:r>
                  <a:rPr lang="en-US" sz="1200"/>
                  <a:t>Usability (UI)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DC536F0-C559-677B-BDB2-4AE07E4F5E97}"/>
                  </a:ext>
                </a:extLst>
              </p:cNvPr>
              <p:cNvSpPr txBox="1"/>
              <p:nvPr/>
            </p:nvSpPr>
            <p:spPr>
              <a:xfrm>
                <a:off x="9886856" y="3119975"/>
                <a:ext cx="19921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 </a:t>
                </a:r>
                <a:r>
                  <a:rPr lang="en-US" sz="1200"/>
                  <a:t>Visual Attractiveness (VA)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752D0B6-582A-F96E-9A41-C869E124A980}"/>
                  </a:ext>
                </a:extLst>
              </p:cNvPr>
              <p:cNvSpPr txBox="1"/>
              <p:nvPr/>
            </p:nvSpPr>
            <p:spPr>
              <a:xfrm>
                <a:off x="9886856" y="3439616"/>
                <a:ext cx="12342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 </a:t>
                </a:r>
                <a:r>
                  <a:rPr lang="en-US" sz="1200"/>
                  <a:t>Efficiency (EF)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91AD2FF2-9C49-9AEC-3C77-717A1AA8317F}"/>
                  </a:ext>
                </a:extLst>
              </p:cNvPr>
              <p:cNvSpPr/>
              <p:nvPr/>
            </p:nvSpPr>
            <p:spPr>
              <a:xfrm>
                <a:off x="9825249" y="243188"/>
                <a:ext cx="2220569" cy="911985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C44FBC5B-9992-83D1-EDA7-F7C64433FAAB}"/>
                  </a:ext>
                </a:extLst>
              </p:cNvPr>
              <p:cNvSpPr/>
              <p:nvPr/>
            </p:nvSpPr>
            <p:spPr>
              <a:xfrm>
                <a:off x="9825249" y="1215615"/>
                <a:ext cx="2220569" cy="1532100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A3CC858-D8A4-3087-8F46-AD84DE3F32BC}"/>
                  </a:ext>
                </a:extLst>
              </p:cNvPr>
              <p:cNvSpPr/>
              <p:nvPr/>
            </p:nvSpPr>
            <p:spPr>
              <a:xfrm>
                <a:off x="9825249" y="2808157"/>
                <a:ext cx="2220569" cy="596642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1554D9A9-ADEF-7E2D-DA07-2A92E1F68079}"/>
                  </a:ext>
                </a:extLst>
              </p:cNvPr>
              <p:cNvSpPr/>
              <p:nvPr/>
            </p:nvSpPr>
            <p:spPr>
              <a:xfrm>
                <a:off x="9825249" y="3465240"/>
                <a:ext cx="2220569" cy="294017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A41FC8D-DFAC-B34C-138B-8D234B4F4078}"/>
                </a:ext>
              </a:extLst>
            </p:cNvPr>
            <p:cNvSpPr txBox="1"/>
            <p:nvPr/>
          </p:nvSpPr>
          <p:spPr>
            <a:xfrm>
              <a:off x="9333754" y="357556"/>
              <a:ext cx="4651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/>
                <a:t>(H1)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F6D558A-3645-B09C-827E-37EACBC43F78}"/>
                </a:ext>
              </a:extLst>
            </p:cNvPr>
            <p:cNvSpPr txBox="1"/>
            <p:nvPr/>
          </p:nvSpPr>
          <p:spPr>
            <a:xfrm>
              <a:off x="9427747" y="1353040"/>
              <a:ext cx="4651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/>
                <a:t>(H2)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D7302DF-A8A7-6325-5D8B-5EE3C8FF88A6}"/>
                </a:ext>
              </a:extLst>
            </p:cNvPr>
            <p:cNvSpPr txBox="1"/>
            <p:nvPr/>
          </p:nvSpPr>
          <p:spPr>
            <a:xfrm>
              <a:off x="9427747" y="2342189"/>
              <a:ext cx="4651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/>
                <a:t>(H3)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7470744-B360-BDC9-4226-A46C3C9342A6}"/>
                </a:ext>
              </a:extLst>
            </p:cNvPr>
            <p:cNvSpPr txBox="1"/>
            <p:nvPr/>
          </p:nvSpPr>
          <p:spPr>
            <a:xfrm>
              <a:off x="9206457" y="3192838"/>
              <a:ext cx="4651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/>
                <a:t>(H4)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68FE49D-1AA8-A5A3-395D-5712B42F4E08}"/>
              </a:ext>
            </a:extLst>
          </p:cNvPr>
          <p:cNvGrpSpPr/>
          <p:nvPr/>
        </p:nvGrpSpPr>
        <p:grpSpPr>
          <a:xfrm>
            <a:off x="7229476" y="4772813"/>
            <a:ext cx="1960641" cy="1642736"/>
            <a:chOff x="7430337" y="2631512"/>
            <a:chExt cx="1714511" cy="1642736"/>
          </a:xfrm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06F0CD2F-8A2B-414E-2FD5-A96F5728F5AD}"/>
                </a:ext>
              </a:extLst>
            </p:cNvPr>
            <p:cNvSpPr/>
            <p:nvPr/>
          </p:nvSpPr>
          <p:spPr>
            <a:xfrm>
              <a:off x="7430337" y="2631512"/>
              <a:ext cx="1714511" cy="164273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Reliabiliity Testing</a:t>
              </a:r>
            </a:p>
            <a:p>
              <a:pPr algn="ctr"/>
              <a:r>
                <a:rPr lang="en-US" sz="1200">
                  <a:solidFill>
                    <a:schemeClr val="tx1"/>
                  </a:solidFill>
                </a:rPr>
                <a:t>PC items</a:t>
              </a:r>
            </a:p>
          </p:txBody>
        </p:sp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E5F9D62C-4943-9144-9316-08D5D468C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76203" y="3184808"/>
              <a:ext cx="1422777" cy="992782"/>
            </a:xfrm>
            <a:prstGeom prst="rect">
              <a:avLst/>
            </a:prstGeom>
          </p:spPr>
        </p:pic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64DAE98-7539-5AA8-511D-5E3DEE67E2AB}"/>
              </a:ext>
            </a:extLst>
          </p:cNvPr>
          <p:cNvGrpSpPr/>
          <p:nvPr/>
        </p:nvGrpSpPr>
        <p:grpSpPr>
          <a:xfrm>
            <a:off x="7229476" y="2119627"/>
            <a:ext cx="1960642" cy="1627768"/>
            <a:chOff x="7184208" y="1271853"/>
            <a:chExt cx="1960642" cy="162776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A650C6EB-FC39-E37D-5B64-DD4758A26C2A}"/>
                </a:ext>
              </a:extLst>
            </p:cNvPr>
            <p:cNvSpPr/>
            <p:nvPr/>
          </p:nvSpPr>
          <p:spPr>
            <a:xfrm>
              <a:off x="7184208" y="1271853"/>
              <a:ext cx="1960642" cy="162776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Descriptive Statistics</a:t>
              </a:r>
            </a:p>
            <a:p>
              <a:pPr algn="ctr"/>
              <a:r>
                <a:rPr lang="en-US" sz="1200">
                  <a:solidFill>
                    <a:schemeClr val="tx1"/>
                  </a:solidFill>
                </a:rPr>
                <a:t>Mean, SD</a:t>
              </a:r>
            </a:p>
            <a:p>
              <a:pPr algn="ctr"/>
              <a:r>
                <a:rPr lang="en-US" sz="1200">
                  <a:solidFill>
                    <a:schemeClr val="tx1"/>
                  </a:solidFill>
                </a:rPr>
                <a:t>Median, IQR</a:t>
              </a:r>
            </a:p>
          </p:txBody>
        </p:sp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06C1199F-DA78-5D82-3935-2F299652A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9618" y="1995914"/>
              <a:ext cx="1422777" cy="813264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F12FFE7-5E82-F006-4EDE-B7767DCD82DB}"/>
              </a:ext>
            </a:extLst>
          </p:cNvPr>
          <p:cNvGrpSpPr/>
          <p:nvPr/>
        </p:nvGrpSpPr>
        <p:grpSpPr>
          <a:xfrm>
            <a:off x="1013989" y="4772813"/>
            <a:ext cx="1960641" cy="1642736"/>
            <a:chOff x="4785619" y="4635645"/>
            <a:chExt cx="1960641" cy="1642736"/>
          </a:xfrm>
        </p:grpSpPr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A8FF036D-BC3A-B934-4E85-522BCD5BFCD5}"/>
                </a:ext>
              </a:extLst>
            </p:cNvPr>
            <p:cNvSpPr/>
            <p:nvPr/>
          </p:nvSpPr>
          <p:spPr>
            <a:xfrm>
              <a:off x="4785619" y="4635645"/>
              <a:ext cx="1960641" cy="164273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Mann-Whitney and Cliff’s Delta Testing</a:t>
              </a:r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422C5E10-757A-A1EB-D2D1-07868EE5A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6544" y="5233060"/>
              <a:ext cx="1358789" cy="939534"/>
            </a:xfrm>
            <a:prstGeom prst="rect">
              <a:avLst/>
            </a:prstGeom>
          </p:spPr>
        </p:pic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D4EDE66-B52E-E9B0-E74F-82212DC37737}"/>
              </a:ext>
            </a:extLst>
          </p:cNvPr>
          <p:cNvGrpSpPr/>
          <p:nvPr/>
        </p:nvGrpSpPr>
        <p:grpSpPr>
          <a:xfrm>
            <a:off x="4121732" y="4772813"/>
            <a:ext cx="1960641" cy="1642736"/>
            <a:chOff x="2154727" y="4622894"/>
            <a:chExt cx="1960641" cy="1642736"/>
          </a:xfrm>
        </p:grpSpPr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A8E5354E-2DB5-96EF-9FF9-189CDD2B7359}"/>
                </a:ext>
              </a:extLst>
            </p:cNvPr>
            <p:cNvSpPr/>
            <p:nvPr/>
          </p:nvSpPr>
          <p:spPr>
            <a:xfrm>
              <a:off x="2154727" y="4622894"/>
              <a:ext cx="1960641" cy="164273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PERMANOVA Testing</a:t>
              </a:r>
            </a:p>
          </p:txBody>
        </p:sp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BA8F5392-D281-A5D4-3FAA-18A657E06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2576" y="5018694"/>
              <a:ext cx="1587565" cy="1133448"/>
            </a:xfrm>
            <a:prstGeom prst="rect">
              <a:avLst/>
            </a:prstGeom>
          </p:spPr>
        </p:pic>
      </p:grp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D6C8995A-4947-6297-90E2-54F7F6BDB780}"/>
              </a:ext>
            </a:extLst>
          </p:cNvPr>
          <p:cNvCxnSpPr>
            <a:cxnSpLocks/>
            <a:stCxn id="55" idx="2"/>
            <a:endCxn id="54" idx="0"/>
          </p:cNvCxnSpPr>
          <p:nvPr/>
        </p:nvCxnSpPr>
        <p:spPr>
          <a:xfrm>
            <a:off x="8209797" y="1094209"/>
            <a:ext cx="0" cy="102541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CFD31DF-4B1C-7599-13EE-10B300F1B27B}"/>
              </a:ext>
            </a:extLst>
          </p:cNvPr>
          <p:cNvCxnSpPr>
            <a:stCxn id="54" idx="2"/>
            <a:endCxn id="118" idx="0"/>
          </p:cNvCxnSpPr>
          <p:nvPr/>
        </p:nvCxnSpPr>
        <p:spPr>
          <a:xfrm>
            <a:off x="8209797" y="3747395"/>
            <a:ext cx="0" cy="102541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E11B3AD3-C4ED-FDC2-954E-13D3F06038B4}"/>
              </a:ext>
            </a:extLst>
          </p:cNvPr>
          <p:cNvCxnSpPr>
            <a:stCxn id="118" idx="1"/>
            <a:endCxn id="145" idx="3"/>
          </p:cNvCxnSpPr>
          <p:nvPr/>
        </p:nvCxnSpPr>
        <p:spPr>
          <a:xfrm flipH="1">
            <a:off x="6082373" y="5594181"/>
            <a:ext cx="1147103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90A15D72-6EE1-9457-AA0D-162306308F37}"/>
              </a:ext>
            </a:extLst>
          </p:cNvPr>
          <p:cNvCxnSpPr>
            <a:stCxn id="145" idx="1"/>
            <a:endCxn id="139" idx="3"/>
          </p:cNvCxnSpPr>
          <p:nvPr/>
        </p:nvCxnSpPr>
        <p:spPr>
          <a:xfrm flipH="1">
            <a:off x="2974630" y="5594181"/>
            <a:ext cx="1147102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B4B0748F-5816-E194-1375-998D377E9939}"/>
              </a:ext>
            </a:extLst>
          </p:cNvPr>
          <p:cNvCxnSpPr>
            <a:cxnSpLocks/>
            <a:stCxn id="139" idx="0"/>
          </p:cNvCxnSpPr>
          <p:nvPr/>
        </p:nvCxnSpPr>
        <p:spPr>
          <a:xfrm flipV="1">
            <a:off x="1994310" y="4108972"/>
            <a:ext cx="0" cy="663841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1B3E98F6-7E43-4811-D538-732E83267D50}"/>
              </a:ext>
            </a:extLst>
          </p:cNvPr>
          <p:cNvSpPr txBox="1"/>
          <p:nvPr/>
        </p:nvSpPr>
        <p:spPr>
          <a:xfrm>
            <a:off x="2093525" y="4083760"/>
            <a:ext cx="3598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Good Dashboard</a:t>
            </a:r>
          </a:p>
          <a:p>
            <a:r>
              <a:rPr lang="en-US" sz="1200"/>
              <a:t>EDA as a Pre-Model Explainability Layer</a:t>
            </a:r>
          </a:p>
          <a:p>
            <a:r>
              <a:rPr lang="en-US" sz="1200"/>
              <a:t>Information Visualization as an Interpretive Medium</a:t>
            </a:r>
          </a:p>
        </p:txBody>
      </p:sp>
      <p:pic>
        <p:nvPicPr>
          <p:cNvPr id="1026" name="Picture 2" descr="Qualtrics logo in transparent PNG and vectorized SVG formats">
            <a:extLst>
              <a:ext uri="{FF2B5EF4-FFF2-40B4-BE49-F238E27FC236}">
                <a16:creationId xmlns:a16="http://schemas.microsoft.com/office/drawing/2014/main" id="{6EE0191A-5381-1B84-2254-AE0C99D0A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495" y="2501137"/>
            <a:ext cx="1195274" cy="38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ower Bi Logo PNG Images Transparent Free Download">
            <a:extLst>
              <a:ext uri="{FF2B5EF4-FFF2-40B4-BE49-F238E27FC236}">
                <a16:creationId xmlns:a16="http://schemas.microsoft.com/office/drawing/2014/main" id="{ABED5F30-5127-3E7A-FE3E-A1D97729E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271" y="2434206"/>
            <a:ext cx="1497740" cy="39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14C3EB6F-ECE5-B1F2-7E8B-14FED1201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859" y="4797369"/>
            <a:ext cx="796812" cy="79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B56A543D-D621-0BE9-8C80-C392A70355E0}"/>
              </a:ext>
            </a:extLst>
          </p:cNvPr>
          <p:cNvSpPr txBox="1"/>
          <p:nvPr/>
        </p:nvSpPr>
        <p:spPr>
          <a:xfrm>
            <a:off x="9932124" y="5594181"/>
            <a:ext cx="1802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The data processing is carried out using Python</a:t>
            </a:r>
          </a:p>
        </p:txBody>
      </p:sp>
    </p:spTree>
    <p:extLst>
      <p:ext uri="{BB962C8B-B14F-4D97-AF65-F5344CB8AC3E}">
        <p14:creationId xmlns:p14="http://schemas.microsoft.com/office/powerpoint/2010/main" val="249487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B318F-3788-5F47-986A-DFE6B63CE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DEB2CD3-DED7-2291-22CB-FB247F0538E0}"/>
              </a:ext>
            </a:extLst>
          </p:cNvPr>
          <p:cNvSpPr/>
          <p:nvPr/>
        </p:nvSpPr>
        <p:spPr>
          <a:xfrm>
            <a:off x="290078" y="2126536"/>
            <a:ext cx="2190938" cy="5303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Understanding the dataset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4E296D-9D68-C9A1-F5AE-C93230063C67}"/>
              </a:ext>
            </a:extLst>
          </p:cNvPr>
          <p:cNvSpPr/>
          <p:nvPr/>
        </p:nvSpPr>
        <p:spPr>
          <a:xfrm>
            <a:off x="290078" y="878114"/>
            <a:ext cx="2190938" cy="5298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Business Object Definition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01642-F33B-D646-2BA0-985514E9C557}"/>
              </a:ext>
            </a:extLst>
          </p:cNvPr>
          <p:cNvSpPr/>
          <p:nvPr/>
        </p:nvSpPr>
        <p:spPr>
          <a:xfrm>
            <a:off x="290078" y="3375435"/>
            <a:ext cx="2190938" cy="5303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Cleaning the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664ADA-B47F-4931-E68B-2C9798689CF5}"/>
              </a:ext>
            </a:extLst>
          </p:cNvPr>
          <p:cNvSpPr/>
          <p:nvPr/>
        </p:nvSpPr>
        <p:spPr>
          <a:xfrm>
            <a:off x="3016610" y="3373825"/>
            <a:ext cx="2190938" cy="263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Handing Missing Value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3FC582-811E-421F-2578-51D224EC5E6D}"/>
              </a:ext>
            </a:extLst>
          </p:cNvPr>
          <p:cNvSpPr/>
          <p:nvPr/>
        </p:nvSpPr>
        <p:spPr>
          <a:xfrm>
            <a:off x="3016610" y="3864414"/>
            <a:ext cx="2190938" cy="263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Handing Outliers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80FECE-FA86-398D-7627-9B67DF5034BE}"/>
              </a:ext>
            </a:extLst>
          </p:cNvPr>
          <p:cNvSpPr/>
          <p:nvPr/>
        </p:nvSpPr>
        <p:spPr>
          <a:xfrm>
            <a:off x="3016610" y="4355003"/>
            <a:ext cx="2190938" cy="263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Distribution 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B16033-580F-56D8-8EC6-9EF4184C31B8}"/>
              </a:ext>
            </a:extLst>
          </p:cNvPr>
          <p:cNvSpPr/>
          <p:nvPr/>
        </p:nvSpPr>
        <p:spPr>
          <a:xfrm>
            <a:off x="3016610" y="4845592"/>
            <a:ext cx="2190938" cy="263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Correlation 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1CCAF2-0958-1FDC-B34A-1944BF1D25B8}"/>
              </a:ext>
            </a:extLst>
          </p:cNvPr>
          <p:cNvSpPr/>
          <p:nvPr/>
        </p:nvSpPr>
        <p:spPr>
          <a:xfrm>
            <a:off x="3016610" y="5336181"/>
            <a:ext cx="2190938" cy="263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Target/Measure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59A9CD-CB0B-6D57-0085-25C69F408913}"/>
              </a:ext>
            </a:extLst>
          </p:cNvPr>
          <p:cNvSpPr/>
          <p:nvPr/>
        </p:nvSpPr>
        <p:spPr>
          <a:xfrm>
            <a:off x="290078" y="5873232"/>
            <a:ext cx="2190938" cy="5303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Synthesize insights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973044-6E6F-3C2A-CC16-1166091D5947}"/>
              </a:ext>
            </a:extLst>
          </p:cNvPr>
          <p:cNvSpPr/>
          <p:nvPr/>
        </p:nvSpPr>
        <p:spPr>
          <a:xfrm>
            <a:off x="290078" y="4624334"/>
            <a:ext cx="2190938" cy="5303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Analyzing relationship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85DA36-3CB9-C2AF-5652-973E4C790A96}"/>
              </a:ext>
            </a:extLst>
          </p:cNvPr>
          <p:cNvSpPr/>
          <p:nvPr/>
        </p:nvSpPr>
        <p:spPr>
          <a:xfrm>
            <a:off x="3016610" y="2883236"/>
            <a:ext cx="2190938" cy="263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Removing Redundant Variable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7B10F72E-DEF4-C57A-E5B1-1BEADD5B85CA}"/>
              </a:ext>
            </a:extLst>
          </p:cNvPr>
          <p:cNvCxnSpPr>
            <a:stCxn id="5" idx="3"/>
            <a:endCxn id="15" idx="1"/>
          </p:cNvCxnSpPr>
          <p:nvPr/>
        </p:nvCxnSpPr>
        <p:spPr>
          <a:xfrm flipV="1">
            <a:off x="2481016" y="3015142"/>
            <a:ext cx="535594" cy="625469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C681D1A0-D50A-C1CB-9378-E25BD3CCC04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481016" y="3505731"/>
            <a:ext cx="535594" cy="134880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EC6AB1CE-CC2D-61C2-6F1F-3B11A3CC5EF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481016" y="3640611"/>
            <a:ext cx="535594" cy="355709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8DEE3189-440F-65A2-7D0C-512E38AED57E}"/>
              </a:ext>
            </a:extLst>
          </p:cNvPr>
          <p:cNvCxnSpPr>
            <a:cxnSpLocks/>
            <a:stCxn id="14" idx="3"/>
            <a:endCxn id="8" idx="1"/>
          </p:cNvCxnSpPr>
          <p:nvPr/>
        </p:nvCxnSpPr>
        <p:spPr>
          <a:xfrm flipV="1">
            <a:off x="2481016" y="4486909"/>
            <a:ext cx="535594" cy="402601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C4C0B024-970C-079C-1DD7-AC569E341CBB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>
            <a:off x="2481016" y="4889510"/>
            <a:ext cx="535594" cy="87988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63A77EAE-8155-ECCE-D1E5-596BC97C1C9C}"/>
              </a:ext>
            </a:extLst>
          </p:cNvPr>
          <p:cNvCxnSpPr>
            <a:cxnSpLocks/>
            <a:stCxn id="14" idx="3"/>
            <a:endCxn id="11" idx="1"/>
          </p:cNvCxnSpPr>
          <p:nvPr/>
        </p:nvCxnSpPr>
        <p:spPr>
          <a:xfrm>
            <a:off x="2481016" y="4889510"/>
            <a:ext cx="535594" cy="578577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847C9EB-6A06-131C-4FEE-29E35F2175EF}"/>
              </a:ext>
            </a:extLst>
          </p:cNvPr>
          <p:cNvSpPr/>
          <p:nvPr/>
        </p:nvSpPr>
        <p:spPr>
          <a:xfrm>
            <a:off x="5467710" y="2259806"/>
            <a:ext cx="2393590" cy="2687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Summary Table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0C7945-3482-BADD-E6FF-3A5A01D43FFC}"/>
              </a:ext>
            </a:extLst>
          </p:cNvPr>
          <p:cNvSpPr/>
          <p:nvPr/>
        </p:nvSpPr>
        <p:spPr>
          <a:xfrm>
            <a:off x="5467710" y="2883235"/>
            <a:ext cx="2393590" cy="2687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Bar, Pairplot, Correlation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705FBF-2E7F-6E13-FC4A-C687181DEECE}"/>
              </a:ext>
            </a:extLst>
          </p:cNvPr>
          <p:cNvSpPr/>
          <p:nvPr/>
        </p:nvSpPr>
        <p:spPr>
          <a:xfrm>
            <a:off x="5467710" y="3373825"/>
            <a:ext cx="2393590" cy="263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Missing Matrix, Missing Heatmap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2E02CB-69D0-9612-BA70-B3EAA34805E5}"/>
              </a:ext>
            </a:extLst>
          </p:cNvPr>
          <p:cNvSpPr/>
          <p:nvPr/>
        </p:nvSpPr>
        <p:spPr>
          <a:xfrm>
            <a:off x="5467710" y="3864414"/>
            <a:ext cx="2393590" cy="263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Boxplot, Violin, Scatter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F02133-BDA0-A401-7BBE-DD4791F2B8B2}"/>
              </a:ext>
            </a:extLst>
          </p:cNvPr>
          <p:cNvSpPr/>
          <p:nvPr/>
        </p:nvSpPr>
        <p:spPr>
          <a:xfrm>
            <a:off x="5467710" y="4355002"/>
            <a:ext cx="2393590" cy="263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Historgram, KDE, Bar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E69883-69C4-3900-4951-D94848B22596}"/>
              </a:ext>
            </a:extLst>
          </p:cNvPr>
          <p:cNvSpPr/>
          <p:nvPr/>
        </p:nvSpPr>
        <p:spPr>
          <a:xfrm>
            <a:off x="5467710" y="4840696"/>
            <a:ext cx="2393590" cy="263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Heatmap, Pairplot, Scatter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A9AF8D-5D2C-BC31-36B9-D506ED63765C}"/>
              </a:ext>
            </a:extLst>
          </p:cNvPr>
          <p:cNvSpPr/>
          <p:nvPr/>
        </p:nvSpPr>
        <p:spPr>
          <a:xfrm>
            <a:off x="5467710" y="5336181"/>
            <a:ext cx="2393590" cy="263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Pareto, Pie, Bar, Map, Line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46FE0-81FB-30AE-792C-07ADDE9B8CDC}"/>
              </a:ext>
            </a:extLst>
          </p:cNvPr>
          <p:cNvSpPr/>
          <p:nvPr/>
        </p:nvSpPr>
        <p:spPr>
          <a:xfrm>
            <a:off x="5467710" y="6006502"/>
            <a:ext cx="2393590" cy="263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Dasboard Summary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7FBF5C-2AD2-C54C-9C8D-695F781FED8C}"/>
              </a:ext>
            </a:extLst>
          </p:cNvPr>
          <p:cNvCxnSpPr>
            <a:stCxn id="4" idx="2"/>
            <a:endCxn id="13" idx="0"/>
          </p:cNvCxnSpPr>
          <p:nvPr/>
        </p:nvCxnSpPr>
        <p:spPr>
          <a:xfrm>
            <a:off x="1385547" y="1407989"/>
            <a:ext cx="0" cy="71854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F71186-A699-3DB0-58B7-724CB0033376}"/>
              </a:ext>
            </a:extLst>
          </p:cNvPr>
          <p:cNvCxnSpPr>
            <a:stCxn id="13" idx="2"/>
            <a:endCxn id="5" idx="0"/>
          </p:cNvCxnSpPr>
          <p:nvPr/>
        </p:nvCxnSpPr>
        <p:spPr>
          <a:xfrm>
            <a:off x="1385547" y="2656888"/>
            <a:ext cx="0" cy="71854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DD832EE-00B8-CCF8-6EEF-9AFE0A951B2E}"/>
              </a:ext>
            </a:extLst>
          </p:cNvPr>
          <p:cNvCxnSpPr>
            <a:stCxn id="5" idx="2"/>
            <a:endCxn id="14" idx="0"/>
          </p:cNvCxnSpPr>
          <p:nvPr/>
        </p:nvCxnSpPr>
        <p:spPr>
          <a:xfrm>
            <a:off x="1385547" y="3905787"/>
            <a:ext cx="0" cy="71854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6FB9161-2C94-5502-5FAA-08D4E796D915}"/>
              </a:ext>
            </a:extLst>
          </p:cNvPr>
          <p:cNvCxnSpPr>
            <a:stCxn id="14" idx="2"/>
            <a:endCxn id="12" idx="0"/>
          </p:cNvCxnSpPr>
          <p:nvPr/>
        </p:nvCxnSpPr>
        <p:spPr>
          <a:xfrm>
            <a:off x="1385547" y="5154686"/>
            <a:ext cx="0" cy="71854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CB4372-0EAE-ABBE-BBAE-5C3D63099F1B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2481016" y="2391712"/>
            <a:ext cx="2986694" cy="244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A485342-3663-276F-2F11-3CF8EBDCBA66}"/>
              </a:ext>
            </a:extLst>
          </p:cNvPr>
          <p:cNvCxnSpPr>
            <a:stCxn id="12" idx="3"/>
            <a:endCxn id="28" idx="1"/>
          </p:cNvCxnSpPr>
          <p:nvPr/>
        </p:nvCxnSpPr>
        <p:spPr>
          <a:xfrm>
            <a:off x="2481016" y="6138408"/>
            <a:ext cx="298669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113B0CB-F0E0-8D4F-4C27-3E68AB40CB0F}"/>
              </a:ext>
            </a:extLst>
          </p:cNvPr>
          <p:cNvCxnSpPr>
            <a:stCxn id="15" idx="3"/>
            <a:endCxn id="20" idx="1"/>
          </p:cNvCxnSpPr>
          <p:nvPr/>
        </p:nvCxnSpPr>
        <p:spPr>
          <a:xfrm>
            <a:off x="5207548" y="3015142"/>
            <a:ext cx="260162" cy="244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2B9EE04-0211-466C-7F44-E926D164F77E}"/>
              </a:ext>
            </a:extLst>
          </p:cNvPr>
          <p:cNvCxnSpPr>
            <a:stCxn id="6" idx="3"/>
            <a:endCxn id="21" idx="1"/>
          </p:cNvCxnSpPr>
          <p:nvPr/>
        </p:nvCxnSpPr>
        <p:spPr>
          <a:xfrm>
            <a:off x="5207548" y="3505731"/>
            <a:ext cx="260162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1C42502-2428-A0FD-11BA-5E92D826E20C}"/>
              </a:ext>
            </a:extLst>
          </p:cNvPr>
          <p:cNvCxnSpPr>
            <a:stCxn id="7" idx="3"/>
            <a:endCxn id="23" idx="1"/>
          </p:cNvCxnSpPr>
          <p:nvPr/>
        </p:nvCxnSpPr>
        <p:spPr>
          <a:xfrm>
            <a:off x="5207548" y="3996320"/>
            <a:ext cx="260162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0362302-BC1D-58C9-AD55-8CE45DD9F9DD}"/>
              </a:ext>
            </a:extLst>
          </p:cNvPr>
          <p:cNvCxnSpPr>
            <a:stCxn id="8" idx="3"/>
            <a:endCxn id="24" idx="1"/>
          </p:cNvCxnSpPr>
          <p:nvPr/>
        </p:nvCxnSpPr>
        <p:spPr>
          <a:xfrm flipV="1">
            <a:off x="5207548" y="4486908"/>
            <a:ext cx="260162" cy="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A4DCC73-00CF-7457-E297-023725CEAE2D}"/>
              </a:ext>
            </a:extLst>
          </p:cNvPr>
          <p:cNvCxnSpPr>
            <a:stCxn id="9" idx="3"/>
            <a:endCxn id="26" idx="1"/>
          </p:cNvCxnSpPr>
          <p:nvPr/>
        </p:nvCxnSpPr>
        <p:spPr>
          <a:xfrm flipV="1">
            <a:off x="5207548" y="4972602"/>
            <a:ext cx="260162" cy="489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725F950-22BC-7407-454F-55CEEFCF3311}"/>
              </a:ext>
            </a:extLst>
          </p:cNvPr>
          <p:cNvCxnSpPr>
            <a:stCxn id="11" idx="3"/>
            <a:endCxn id="27" idx="1"/>
          </p:cNvCxnSpPr>
          <p:nvPr/>
        </p:nvCxnSpPr>
        <p:spPr>
          <a:xfrm>
            <a:off x="5207548" y="5468087"/>
            <a:ext cx="260162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69A9BD0-2239-86BF-E932-015C5769DBC8}"/>
              </a:ext>
            </a:extLst>
          </p:cNvPr>
          <p:cNvSpPr/>
          <p:nvPr/>
        </p:nvSpPr>
        <p:spPr>
          <a:xfrm>
            <a:off x="290078" y="101139"/>
            <a:ext cx="2190938" cy="51179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EDA Process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C9B773A-ABC9-2C8A-8DEE-145488195691}"/>
              </a:ext>
            </a:extLst>
          </p:cNvPr>
          <p:cNvSpPr/>
          <p:nvPr/>
        </p:nvSpPr>
        <p:spPr>
          <a:xfrm>
            <a:off x="2900539" y="101139"/>
            <a:ext cx="2190938" cy="51179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Sub-Process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5ABB34E-F46E-F3D8-A885-4D8DAC51335B}"/>
              </a:ext>
            </a:extLst>
          </p:cNvPr>
          <p:cNvSpPr/>
          <p:nvPr/>
        </p:nvSpPr>
        <p:spPr>
          <a:xfrm>
            <a:off x="5511000" y="101139"/>
            <a:ext cx="2190938" cy="51179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Visual Suggestion 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C094AC-BDCC-1FC2-7157-43D01BF326B2}"/>
              </a:ext>
            </a:extLst>
          </p:cNvPr>
          <p:cNvSpPr/>
          <p:nvPr/>
        </p:nvSpPr>
        <p:spPr>
          <a:xfrm>
            <a:off x="8121462" y="101139"/>
            <a:ext cx="3575238" cy="51179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Visual Enhancement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BFE36A82-C242-601A-8487-F1C66FD1F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039" y="762000"/>
            <a:ext cx="3496883" cy="220261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0C6A905C-AE1F-4F9B-E0E2-A2CE7AFAA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038" y="2947528"/>
            <a:ext cx="3496883" cy="21297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14FCBE16-9DF4-EBEC-BFF6-257F266C5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038" y="5150140"/>
            <a:ext cx="3554998" cy="1521819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17A94EDC-95AA-404F-EF5B-01834E737F5D}"/>
              </a:ext>
            </a:extLst>
          </p:cNvPr>
          <p:cNvSpPr/>
          <p:nvPr/>
        </p:nvSpPr>
        <p:spPr>
          <a:xfrm>
            <a:off x="8377236" y="1800225"/>
            <a:ext cx="69053" cy="785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188E1CA-43A4-C338-C8BC-EB77B4871BF0}"/>
              </a:ext>
            </a:extLst>
          </p:cNvPr>
          <p:cNvSpPr/>
          <p:nvPr/>
        </p:nvSpPr>
        <p:spPr>
          <a:xfrm>
            <a:off x="8405038" y="3950503"/>
            <a:ext cx="128976" cy="785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D6750521-8057-71FF-DC77-D931422F3A3C}"/>
              </a:ext>
            </a:extLst>
          </p:cNvPr>
          <p:cNvSpPr/>
          <p:nvPr/>
        </p:nvSpPr>
        <p:spPr>
          <a:xfrm>
            <a:off x="8114240" y="1847850"/>
            <a:ext cx="438436" cy="2133600"/>
          </a:xfrm>
          <a:custGeom>
            <a:avLst/>
            <a:gdLst>
              <a:gd name="connsiteX0" fmla="*/ 315385 w 410635"/>
              <a:gd name="connsiteY0" fmla="*/ 0 h 2133600"/>
              <a:gd name="connsiteX1" fmla="*/ 1060 w 410635"/>
              <a:gd name="connsiteY1" fmla="*/ 1200150 h 2133600"/>
              <a:gd name="connsiteX2" fmla="*/ 410635 w 410635"/>
              <a:gd name="connsiteY2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635" h="2133600">
                <a:moveTo>
                  <a:pt x="315385" y="0"/>
                </a:moveTo>
                <a:cubicBezTo>
                  <a:pt x="150285" y="422275"/>
                  <a:pt x="-14815" y="844550"/>
                  <a:pt x="1060" y="1200150"/>
                </a:cubicBezTo>
                <a:cubicBezTo>
                  <a:pt x="16935" y="1555750"/>
                  <a:pt x="213785" y="1844675"/>
                  <a:pt x="410635" y="2133600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E935E62-FF8F-0CE9-7035-4213D89C5754}"/>
              </a:ext>
            </a:extLst>
          </p:cNvPr>
          <p:cNvSpPr/>
          <p:nvPr/>
        </p:nvSpPr>
        <p:spPr>
          <a:xfrm>
            <a:off x="8359179" y="5809064"/>
            <a:ext cx="128976" cy="785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AC6F29BE-66AC-7663-EFCE-162C8460A155}"/>
              </a:ext>
            </a:extLst>
          </p:cNvPr>
          <p:cNvSpPr/>
          <p:nvPr/>
        </p:nvSpPr>
        <p:spPr>
          <a:xfrm>
            <a:off x="8200819" y="3981450"/>
            <a:ext cx="351857" cy="1866900"/>
          </a:xfrm>
          <a:custGeom>
            <a:avLst/>
            <a:gdLst>
              <a:gd name="connsiteX0" fmla="*/ 314531 w 314531"/>
              <a:gd name="connsiteY0" fmla="*/ 0 h 1866900"/>
              <a:gd name="connsiteX1" fmla="*/ 206 w 314531"/>
              <a:gd name="connsiteY1" fmla="*/ 952500 h 1866900"/>
              <a:gd name="connsiteX2" fmla="*/ 276431 w 314531"/>
              <a:gd name="connsiteY2" fmla="*/ 1866900 h 186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4531" h="1866900">
                <a:moveTo>
                  <a:pt x="314531" y="0"/>
                </a:moveTo>
                <a:cubicBezTo>
                  <a:pt x="160543" y="320675"/>
                  <a:pt x="6556" y="641350"/>
                  <a:pt x="206" y="952500"/>
                </a:cubicBezTo>
                <a:cubicBezTo>
                  <a:pt x="-6144" y="1263650"/>
                  <a:pt x="135143" y="1565275"/>
                  <a:pt x="276431" y="1866900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504111B-58F7-CC9C-8FD0-0498ABCD7E1A}"/>
              </a:ext>
            </a:extLst>
          </p:cNvPr>
          <p:cNvCxnSpPr>
            <a:cxnSpLocks/>
          </p:cNvCxnSpPr>
          <p:nvPr/>
        </p:nvCxnSpPr>
        <p:spPr>
          <a:xfrm>
            <a:off x="152400" y="762000"/>
            <a:ext cx="1174952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90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19A6A4-D27B-37E2-6018-CBB371B6F088}"/>
              </a:ext>
            </a:extLst>
          </p:cNvPr>
          <p:cNvSpPr/>
          <p:nvPr/>
        </p:nvSpPr>
        <p:spPr>
          <a:xfrm>
            <a:off x="4543085" y="135164"/>
            <a:ext cx="2581274" cy="5298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Raw Data Input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7082D4-0CC3-1F29-9889-A6BA67BECD11}"/>
              </a:ext>
            </a:extLst>
          </p:cNvPr>
          <p:cNvSpPr/>
          <p:nvPr/>
        </p:nvSpPr>
        <p:spPr>
          <a:xfrm>
            <a:off x="4543085" y="1090044"/>
            <a:ext cx="2581274" cy="5298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Enhanced Visual EDA Framework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CC1061-36B8-ABBE-6BAB-7EEC30C3B68A}"/>
              </a:ext>
            </a:extLst>
          </p:cNvPr>
          <p:cNvSpPr/>
          <p:nvPr/>
        </p:nvSpPr>
        <p:spPr>
          <a:xfrm>
            <a:off x="1227857" y="2044924"/>
            <a:ext cx="2581274" cy="1074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Understanding Data Structure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Distribution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Outliers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Noise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5272FC-7DA5-034F-BBFE-66F56CD9ED0D}"/>
              </a:ext>
            </a:extLst>
          </p:cNvPr>
          <p:cNvSpPr/>
          <p:nvPr/>
        </p:nvSpPr>
        <p:spPr>
          <a:xfrm>
            <a:off x="4543085" y="2044924"/>
            <a:ext cx="2581274" cy="1074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Detecting Bias and Ethical Risk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Imbalance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Proxy Attributes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MNAR, Leakage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8DABA7-7807-A57A-C626-69A181ADC7EB}"/>
              </a:ext>
            </a:extLst>
          </p:cNvPr>
          <p:cNvSpPr/>
          <p:nvPr/>
        </p:nvSpPr>
        <p:spPr>
          <a:xfrm>
            <a:off x="7858313" y="2044924"/>
            <a:ext cx="2581274" cy="1074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Revealing Feature Relationships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Correlation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Nonlinearity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Interaction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61500E-74E5-BE08-EA37-57D0CB8151FA}"/>
              </a:ext>
            </a:extLst>
          </p:cNvPr>
          <p:cNvSpPr/>
          <p:nvPr/>
        </p:nvSpPr>
        <p:spPr>
          <a:xfrm>
            <a:off x="4090741" y="3544440"/>
            <a:ext cx="3485962" cy="1074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Pre-Model Explainability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Understanding the learning environment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Establishing interpretability priors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Identifying risks before modelling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65E1B3-D561-35BC-D210-DEB0EB4E5DEB}"/>
              </a:ext>
            </a:extLst>
          </p:cNvPr>
          <p:cNvSpPr/>
          <p:nvPr/>
        </p:nvSpPr>
        <p:spPr>
          <a:xfrm>
            <a:off x="323169" y="5043954"/>
            <a:ext cx="3485962" cy="1074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Model Design Decision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Choose interpretable models if feasible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Apply regularization based on collinearity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Address imbalance, noise, outliers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Ensure fairness-aware model choice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CED72E-1956-F8B9-2FB0-5E78F528BDC2}"/>
              </a:ext>
            </a:extLst>
          </p:cNvPr>
          <p:cNvSpPr/>
          <p:nvPr/>
        </p:nvSpPr>
        <p:spPr>
          <a:xfrm>
            <a:off x="4543085" y="5043955"/>
            <a:ext cx="2581274" cy="1074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Model Training and Post-Model XAI</a:t>
            </a:r>
          </a:p>
          <a:p>
            <a:pPr algn="ctr"/>
            <a:r>
              <a:rPr lang="en-US" sz="1200">
                <a:solidFill>
                  <a:schemeClr val="tx1"/>
                </a:solidFill>
              </a:rPr>
              <a:t>(e.g., SHAP, LIME …)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87E470-86BF-8A62-438A-AE9F0A9BC302}"/>
              </a:ext>
            </a:extLst>
          </p:cNvPr>
          <p:cNvSpPr/>
          <p:nvPr/>
        </p:nvSpPr>
        <p:spPr>
          <a:xfrm>
            <a:off x="7858313" y="5043954"/>
            <a:ext cx="3485962" cy="1074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Holistic Explainability (Pre and Post XAI)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Interpretation anchored in EDA baseline</a:t>
            </a:r>
          </a:p>
          <a:p>
            <a:pPr marL="171450" indent="-171450" algn="ctr">
              <a:buFontTx/>
              <a:buChar char="-"/>
            </a:pPr>
            <a:r>
              <a:rPr lang="en-US" sz="1200">
                <a:solidFill>
                  <a:schemeClr val="tx1"/>
                </a:solidFill>
              </a:rPr>
              <a:t>More robust, fair, transparent decisions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9B3E0A-0282-E2A1-C6DF-9273EC51B074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5833722" y="665039"/>
            <a:ext cx="0" cy="42500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A055E241-08A5-3346-C0A3-2F74682B4E2F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7278834" y="174807"/>
            <a:ext cx="425005" cy="331522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CD13664F-0417-6F92-E98F-D462D0B5EE1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3963606" y="174807"/>
            <a:ext cx="425005" cy="331522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0E004C81-92BC-2C49-3BCA-0AF0AF765A2B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16200000" flipH="1">
            <a:off x="3963606" y="1674323"/>
            <a:ext cx="425005" cy="331522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04DCD699-DD5E-2C06-0AAD-610432DE1F42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7278834" y="1674323"/>
            <a:ext cx="425005" cy="331522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4E9554B-1DA6-6F3D-595C-848D67CAC8DB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5833722" y="3119435"/>
            <a:ext cx="0" cy="42500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B5B016A7-15E7-0400-515D-54D0C78FA06B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3737435" y="2947666"/>
            <a:ext cx="425003" cy="376757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6C8D3E4-C8BD-861F-EB19-6CAD23931079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809131" y="5581210"/>
            <a:ext cx="733954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38EC00B-67C6-49F2-C5C2-5F73387ED0F1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7124359" y="5581210"/>
            <a:ext cx="733954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00BC6C1-9C2B-3742-8632-FA612D8D7359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5833722" y="1619919"/>
            <a:ext cx="0" cy="42500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07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 cap="flat" cmpd="sng" algn="ctr">
          <a:solidFill>
            <a:schemeClr val="accent6"/>
          </a:solidFill>
          <a:prstDash val="dash"/>
          <a:round/>
          <a:headEnd type="none" w="med" len="med"/>
          <a:tailEnd type="non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493</Words>
  <Application>Microsoft Office PowerPoint</Application>
  <PresentationFormat>Widescreen</PresentationFormat>
  <Paragraphs>145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Thien Le</dc:creator>
  <cp:lastModifiedBy>Thien Le</cp:lastModifiedBy>
  <cp:revision>15</cp:revision>
  <dcterms:created xsi:type="dcterms:W3CDTF">2025-11-08T07:14:10Z</dcterms:created>
  <dcterms:modified xsi:type="dcterms:W3CDTF">2025-12-03T15:52:57Z</dcterms:modified>
</cp:coreProperties>
</file>